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notesMasters/notesMaster1.xml" ContentType="application/vnd.openxmlformats-officedocument.presentationml.notesMaster+xml"/>
  <ns0:Override PartName="/ppt/notesSlides/notesSlide1.xml" ContentType="application/vnd.openxmlformats-officedocument.presentationml.notesSlide+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1384158" cy="30275784"/>
  <p:notesSz cx="30275784" cy="2138415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1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_graph_doorkey6x6_3000_mean_success.png" /><Relationship Id="rId4" Type="http://schemas.openxmlformats.org/officeDocument/2006/relationships/image" Target="../media/image_graph_multiroom_n4s4_auc_and_speed.png" /><Relationship Id="rId5" Type="http://schemas.openxmlformats.org/officeDocument/2006/relationships/image" Target="../media/image_graph_multiroom_n4s4_final_episode_length.png" /><Relationship Id="rId6" Type="http://schemas.openxmlformats.org/officeDocument/2006/relationships/image" Target="../media/image_graph_hidden_intervention_success_drop.png" /><Relationship Id="rId7" Type="http://schemas.openxmlformats.org/officeDocument/2006/relationships/image" Target="../media/image_graph_manager_goal_policy_coupling.png" /><Relationship Id="rId8" Type="http://schemas.openxmlformats.org/officeDocument/2006/relationships/image" Target="../media/image_graph_multiroom_n4s5_reward_signal_boundary.png" /></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20378318" cy="713232"/>
          </a:xfrm>
          <a:prstGeom prst="rect">
            <a:avLst/>
          </a:prstGeom>
          <a:noFill/>
          <a:ln/>
        </p:spPr>
        <p:txBody>
          <a:bodyPr wrap="square" lIns="254" tIns="0" rIns="254" bIns="0" rtlCol="0" anchor="ctr">
            <a:noAutofit/>
          </a:bodyPr>
          <a:lstStyle/>
          <a:p>
            <a:pPr algn="ctr" indent="0" marL="0">
              <a:buNone/>
            </a:pPr>
            <a:r>
              <a:rPr sz="3800" b="1">
                <a:solidFill>
                  <a:srgbClr val="0B2545"/>
                </a:solidFill>
                <a:latin typeface="Noto Sans CJK KR"/>
              </a:rPr>
              <a:t>A Reinforcement Learning Approach for Mitigating Reward Sparsity in Multi-Goal Game Environments</a:t>
            </a:r>
            <a:endParaRPr lang="en-US" sz="2800" dirty="0"/>
          </a:p>
        </p:txBody>
      </p:sp>
      <p:sp>
        <p:nvSpPr>
          <p:cNvPr id="3" name="Text 1"/>
          <p:cNvSpPr/>
          <p:nvPr/>
        </p:nvSpPr>
        <p:spPr>
          <a:xfrm>
            <a:off x="502920" y="1115568"/>
            <a:ext cx="20378318" cy="502920"/>
          </a:xfrm>
          <a:prstGeom prst="rect">
            <a:avLst/>
          </a:prstGeom>
          <a:noFill/>
          <a:ln/>
        </p:spPr>
        <p:txBody>
          <a:bodyPr wrap="square" lIns="254" tIns="0" rIns="254" bIns="0" rtlCol="0" anchor="t">
            <a:noAutofit/>
          </a:bodyPr>
          <a:lstStyle/>
          <a:p>
            <a:pPr algn="ctr" indent="0" marL="0">
              <a:buNone/>
            </a:pPr>
            <a:r>
              <a:rPr sz="2800" b="1">
                <a:solidFill>
                  <a:srgbClr val="172033"/>
                </a:solidFill>
                <a:latin typeface="Noto Sans CJK KR"/>
              </a:rPr>
              <a:t>FuN Manager Memory Ablation in MiniGrid</a:t>
            </a:r>
            <a:endParaRPr lang="en-US" sz="2100" dirty="0"/>
          </a:p>
        </p:txBody>
      </p:sp>
      <p:sp>
        <p:nvSpPr>
          <p:cNvPr id="4" name="Text 2"/>
          <p:cNvSpPr/>
          <p:nvPr/>
        </p:nvSpPr>
        <p:spPr>
          <a:xfrm>
            <a:off x="502920" y="1664208"/>
            <a:ext cx="20378318" cy="347472"/>
          </a:xfrm>
          <a:prstGeom prst="rect">
            <a:avLst/>
          </a:prstGeom>
          <a:noFill/>
          <a:ln/>
        </p:spPr>
        <p:txBody>
          <a:bodyPr wrap="square" lIns="254" tIns="0" rIns="254" bIns="0" rtlCol="0" anchor="t">
            <a:noAutofit/>
          </a:bodyPr>
          <a:lstStyle/>
          <a:p>
            <a:pPr algn="ctr" indent="0" marL="0">
              <a:buNone/>
            </a:pPr>
            <a:r>
              <a:rPr sz="1850">
                <a:solidFill>
                  <a:srgbClr val="172033"/>
                </a:solidFill>
                <a:latin typeface="Noto Sans CJK KR"/>
              </a:rPr>
              <a:t>Dept. of Electrical and Computer Engineering   2020-11486   Minseong Bu</a:t>
            </a:r>
            <a:endParaRPr lang="en-US" sz="1350" dirty="0"/>
          </a:p>
        </p:txBody>
      </p:sp>
      <p:sp>
        <p:nvSpPr>
          <p:cNvPr id="5" name="Shape 3"/>
          <p:cNvSpPr/>
          <p:nvPr/>
        </p:nvSpPr>
        <p:spPr>
          <a:xfrm>
            <a:off x="502920" y="2240280"/>
            <a:ext cx="20378318" cy="0"/>
          </a:xfrm>
          <a:prstGeom prst="line">
            <a:avLst/>
          </a:prstGeom>
          <a:noFill/>
          <a:ln w="15240">
            <a:solidFill>
              <a:srgbClr val="C7D1DB"/>
            </a:solidFill>
            <a:prstDash val="solid"/>
          </a:ln>
        </p:spPr>
        <p:txBody>
          <a:bodyPr/>
          <a:p/>
        </p:txBody>
      </p:sp>
      <p:sp>
        <p:nvSpPr>
          <p:cNvPr id="6" name="Shape 4"/>
          <p:cNvSpPr/>
          <p:nvPr/>
        </p:nvSpPr>
        <p:spPr>
          <a:xfrm>
            <a:off x="411480" y="2514600"/>
            <a:ext cx="6719621" cy="5166360"/>
          </a:xfrm>
          <a:prstGeom prst="roundRect">
            <a:avLst>
              <a:gd name="adj" fmla="val 1416"/>
            </a:avLst>
          </a:prstGeom>
          <a:solidFill>
            <a:srgbClr val="FFFFFF"/>
          </a:solidFill>
          <a:ln w="12700">
            <a:solidFill>
              <a:srgbClr val="C7D1DB"/>
            </a:solidFill>
            <a:prstDash val="solid"/>
          </a:ln>
        </p:spPr>
        <p:txBody>
          <a:bodyPr/>
          <a:p/>
        </p:txBody>
      </p:sp>
      <p:sp>
        <p:nvSpPr>
          <p:cNvPr id="7" name="Shape 5"/>
          <p:cNvSpPr/>
          <p:nvPr/>
        </p:nvSpPr>
        <p:spPr>
          <a:xfrm>
            <a:off x="576072"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8" name="Text 6"/>
          <p:cNvSpPr/>
          <p:nvPr/>
        </p:nvSpPr>
        <p:spPr>
          <a:xfrm>
            <a:off x="576072"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1.</a:t>
            </a:r>
            <a:endParaRPr lang="en-US" sz="1400" dirty="0"/>
          </a:p>
        </p:txBody>
      </p:sp>
      <p:sp>
        <p:nvSpPr>
          <p:cNvPr id="9" name="Text 7"/>
          <p:cNvSpPr/>
          <p:nvPr/>
        </p:nvSpPr>
        <p:spPr>
          <a:xfrm>
            <a:off x="1188720" y="267004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Research Background and Question</a:t>
            </a:r>
            <a:endParaRPr lang="en-US" sz="1300" dirty="0"/>
          </a:p>
        </p:txBody>
      </p:sp>
      <p:sp>
        <p:nvSpPr>
          <p:cNvPr id="10" name="Text 8"/>
          <p:cNvSpPr/>
          <p:nvPr/>
        </p:nvSpPr>
        <p:spPr>
          <a:xfrm>
            <a:off x="731520" y="3383280"/>
            <a:ext cx="6079541" cy="40233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400">
                <a:solidFill>
                  <a:srgbClr val="141F30"/>
                </a:solidFill>
                <a:latin typeface="Malgun Gothic"/>
              </a:rPr>
              <a:t>Reward sparsity in reinforcement learning prevents an agent from receiving useful success rewards, making exploration and credit assignment difficult. This problem is especially clear in MiniGrid DoorKey and MultiRoom environments, where the agent must execute several sub-behaviors in the right order, such as opening doors, moving across rooms, and reaching the goal. A simple flat policy often struggles to obtain meaningful reward signals early in training.</a:t>
            </a:r>
            <a:endParaRPr lang="en-US" sz="940" dirty="0"/>
          </a:p>
          <a:p>
            <a:r>
              <a:rPr sz="1400">
                <a:solidFill>
                  <a:srgbClr val="141F30"/>
                </a:solidFill>
                <a:latin typeface="Malgun Gothic"/>
              </a:rPr>
              <a:t/>
            </a:r>
          </a:p>
          <a:p>
            <a:r>
              <a:rPr sz="1400">
                <a:solidFill>
                  <a:srgbClr val="141F30"/>
                </a:solidFill>
                <a:latin typeface="Malgun Gothic"/>
              </a:rPr>
              <a:t>This project focuses on the Manager-Worker structure of Feudal Networks (FuN). In FuN, a high-level Manager generates a latent goal, and a low-level Worker selects actions conditioned on that goal. In the standard Vanilla FuN setting, the Manager maintains a recurrent hidden state, allowing it to accumulate past observations while generating subgoals.</a:t>
            </a:r>
          </a:p>
          <a:p>
            <a:r>
              <a:rPr sz="1400">
                <a:solidFill>
                  <a:srgbClr val="141F30"/>
                </a:solidFill>
                <a:latin typeface="Malgun Gothic"/>
              </a:rPr>
              <a:t/>
            </a:r>
          </a:p>
          <a:p>
            <a:r>
              <a:rPr sz="1400">
                <a:solidFill>
                  <a:srgbClr val="141F30"/>
                </a:solidFill>
                <a:latin typeface="Malgun Gothic"/>
              </a:rPr>
              <a:t>The main question is whether this recurrent memory is actually necessary for MiniGrid navigation. To test this, I compared Vanilla FuN with a Memory Ablation Manager that removes the recurrent hidden state while keeping the same goal interface.</a:t>
            </a:r>
          </a:p>
        </p:txBody>
      </p:sp>
      <p:sp>
        <p:nvSpPr>
          <p:cNvPr id="11" name="Shape 9"/>
          <p:cNvSpPr/>
          <p:nvPr/>
        </p:nvSpPr>
        <p:spPr>
          <a:xfrm>
            <a:off x="411480" y="7863840"/>
            <a:ext cx="6719621" cy="8549640"/>
          </a:xfrm>
          <a:prstGeom prst="roundRect">
            <a:avLst>
              <a:gd name="adj" fmla="val 1089"/>
            </a:avLst>
          </a:prstGeom>
          <a:solidFill>
            <a:srgbClr val="FFFFFF"/>
          </a:solidFill>
          <a:ln w="12700">
            <a:solidFill>
              <a:srgbClr val="C7D1DB"/>
            </a:solidFill>
            <a:prstDash val="solid"/>
          </a:ln>
        </p:spPr>
        <p:txBody>
          <a:bodyPr/>
          <a:p/>
        </p:txBody>
      </p:sp>
      <p:sp>
        <p:nvSpPr>
          <p:cNvPr id="12" name="Shape 10"/>
          <p:cNvSpPr/>
          <p:nvPr/>
        </p:nvSpPr>
        <p:spPr>
          <a:xfrm>
            <a:off x="576072" y="802843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3" name="Text 11"/>
          <p:cNvSpPr/>
          <p:nvPr/>
        </p:nvSpPr>
        <p:spPr>
          <a:xfrm>
            <a:off x="576072" y="806958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2.</a:t>
            </a:r>
            <a:endParaRPr lang="en-US" sz="1400" dirty="0"/>
          </a:p>
        </p:txBody>
      </p:sp>
      <p:sp>
        <p:nvSpPr>
          <p:cNvPr id="14" name="Text 12"/>
          <p:cNvSpPr/>
          <p:nvPr/>
        </p:nvSpPr>
        <p:spPr>
          <a:xfrm>
            <a:off x="1188720" y="801928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Method</a:t>
            </a:r>
            <a:endParaRPr lang="en-US" sz="1300" dirty="0"/>
          </a:p>
        </p:txBody>
      </p:sp>
      <p:sp>
        <p:nvSpPr>
          <p:cNvPr id="15" name="Shape 13"/>
          <p:cNvSpPr/>
          <p:nvPr/>
        </p:nvSpPr>
        <p:spPr>
          <a:xfrm>
            <a:off x="704088" y="8823960"/>
            <a:ext cx="892861" cy="1325880"/>
          </a:xfrm>
          <a:prstGeom prst="roundRect">
            <a:avLst>
              <a:gd name="adj" fmla="val 5121"/>
            </a:avLst>
          </a:prstGeom>
          <a:solidFill>
            <a:srgbClr val="F1F5F9"/>
          </a:solidFill>
          <a:ln w="10160">
            <a:solidFill>
              <a:srgbClr val="9099A6"/>
            </a:solidFill>
            <a:prstDash val="solid"/>
          </a:ln>
        </p:spPr>
        <p:txBody>
          <a:bodyPr/>
          <a:p/>
        </p:txBody>
      </p:sp>
      <p:sp>
        <p:nvSpPr>
          <p:cNvPr id="16" name="Text 14"/>
          <p:cNvSpPr/>
          <p:nvPr/>
        </p:nvSpPr>
        <p:spPr>
          <a:xfrm>
            <a:off x="704088"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17" name="Text 15"/>
          <p:cNvSpPr/>
          <p:nvPr/>
        </p:nvSpPr>
        <p:spPr>
          <a:xfrm>
            <a:off x="722376"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Observation</a:t>
            </a:r>
            <a:endParaRPr lang="en-US" sz="670" dirty="0"/>
          </a:p>
        </p:txBody>
      </p:sp>
      <p:sp>
        <p:nvSpPr>
          <p:cNvPr id="18" name="Shape 16"/>
          <p:cNvSpPr/>
          <p:nvPr/>
        </p:nvSpPr>
        <p:spPr>
          <a:xfrm>
            <a:off x="1633525" y="9413748"/>
            <a:ext cx="109728" cy="146304"/>
          </a:xfrm>
          <a:prstGeom prst="rightArrow">
            <a:avLst/>
          </a:prstGeom>
          <a:solidFill>
            <a:srgbClr val="0B2545"/>
          </a:solidFill>
          <a:ln w="12700">
            <a:solidFill>
              <a:srgbClr val="0B2545"/>
            </a:solidFill>
            <a:prstDash val="solid"/>
          </a:ln>
        </p:spPr>
        <p:txBody>
          <a:bodyPr/>
          <a:p/>
        </p:txBody>
      </p:sp>
      <p:sp>
        <p:nvSpPr>
          <p:cNvPr id="19" name="Shape 17"/>
          <p:cNvSpPr/>
          <p:nvPr/>
        </p:nvSpPr>
        <p:spPr>
          <a:xfrm>
            <a:off x="1752397" y="8823960"/>
            <a:ext cx="892861" cy="1325880"/>
          </a:xfrm>
          <a:prstGeom prst="roundRect">
            <a:avLst>
              <a:gd name="adj" fmla="val 5121"/>
            </a:avLst>
          </a:prstGeom>
          <a:solidFill>
            <a:srgbClr val="D7E9FA"/>
          </a:solidFill>
          <a:ln w="10160">
            <a:solidFill>
              <a:srgbClr val="9099A6"/>
            </a:solidFill>
            <a:prstDash val="solid"/>
          </a:ln>
        </p:spPr>
        <p:txBody>
          <a:bodyPr/>
          <a:p/>
        </p:txBody>
      </p:sp>
      <p:sp>
        <p:nvSpPr>
          <p:cNvPr id="20" name="Text 18"/>
          <p:cNvSpPr/>
          <p:nvPr/>
        </p:nvSpPr>
        <p:spPr>
          <a:xfrm>
            <a:off x="1752397"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1" name="Text 19"/>
          <p:cNvSpPr/>
          <p:nvPr/>
        </p:nvSpPr>
        <p:spPr>
          <a:xfrm>
            <a:off x="1770685"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Encoder</a:t>
            </a:r>
            <a:endParaRPr lang="en-US" sz="670" dirty="0"/>
          </a:p>
        </p:txBody>
      </p:sp>
      <p:sp>
        <p:nvSpPr>
          <p:cNvPr id="22" name="Shape 20"/>
          <p:cNvSpPr/>
          <p:nvPr/>
        </p:nvSpPr>
        <p:spPr>
          <a:xfrm>
            <a:off x="2681834" y="9413748"/>
            <a:ext cx="109728" cy="146304"/>
          </a:xfrm>
          <a:prstGeom prst="rightArrow">
            <a:avLst/>
          </a:prstGeom>
          <a:solidFill>
            <a:srgbClr val="0B2545"/>
          </a:solidFill>
          <a:ln w="12700">
            <a:solidFill>
              <a:srgbClr val="0B2545"/>
            </a:solidFill>
            <a:prstDash val="solid"/>
          </a:ln>
        </p:spPr>
        <p:txBody>
          <a:bodyPr/>
          <a:p/>
        </p:txBody>
      </p:sp>
      <p:sp>
        <p:nvSpPr>
          <p:cNvPr id="23" name="Shape 21"/>
          <p:cNvSpPr/>
          <p:nvPr/>
        </p:nvSpPr>
        <p:spPr>
          <a:xfrm>
            <a:off x="2800706" y="8823960"/>
            <a:ext cx="892861" cy="1325880"/>
          </a:xfrm>
          <a:prstGeom prst="roundRect">
            <a:avLst>
              <a:gd name="adj" fmla="val 5121"/>
            </a:avLst>
          </a:prstGeom>
          <a:solidFill>
            <a:srgbClr val="E8F7EF"/>
          </a:solidFill>
          <a:ln w="10160">
            <a:solidFill>
              <a:srgbClr val="9099A6"/>
            </a:solidFill>
            <a:prstDash val="solid"/>
          </a:ln>
        </p:spPr>
        <p:txBody>
          <a:bodyPr/>
          <a:p/>
        </p:txBody>
      </p:sp>
      <p:sp>
        <p:nvSpPr>
          <p:cNvPr id="24" name="Text 22"/>
          <p:cNvSpPr/>
          <p:nvPr/>
        </p:nvSpPr>
        <p:spPr>
          <a:xfrm>
            <a:off x="2800706"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5" name="Text 23"/>
          <p:cNvSpPr/>
          <p:nvPr/>
        </p:nvSpPr>
        <p:spPr>
          <a:xfrm>
            <a:off x="2818994"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Manager</a:t>
            </a:r>
            <a:endParaRPr lang="en-US" sz="670" dirty="0"/>
          </a:p>
        </p:txBody>
      </p:sp>
      <p:sp>
        <p:nvSpPr>
          <p:cNvPr id="26" name="Shape 24"/>
          <p:cNvSpPr/>
          <p:nvPr/>
        </p:nvSpPr>
        <p:spPr>
          <a:xfrm>
            <a:off x="3730142" y="9413748"/>
            <a:ext cx="109728" cy="146304"/>
          </a:xfrm>
          <a:prstGeom prst="rightArrow">
            <a:avLst/>
          </a:prstGeom>
          <a:solidFill>
            <a:srgbClr val="0B2545"/>
          </a:solidFill>
          <a:ln w="12700">
            <a:solidFill>
              <a:srgbClr val="0B2545"/>
            </a:solidFill>
            <a:prstDash val="solid"/>
          </a:ln>
        </p:spPr>
        <p:txBody>
          <a:bodyPr/>
          <a:p/>
        </p:txBody>
      </p:sp>
      <p:sp>
        <p:nvSpPr>
          <p:cNvPr id="27" name="Shape 25"/>
          <p:cNvSpPr/>
          <p:nvPr/>
        </p:nvSpPr>
        <p:spPr>
          <a:xfrm>
            <a:off x="3849014" y="8823960"/>
            <a:ext cx="892861" cy="1325880"/>
          </a:xfrm>
          <a:prstGeom prst="roundRect">
            <a:avLst>
              <a:gd name="adj" fmla="val 5121"/>
            </a:avLst>
          </a:prstGeom>
          <a:solidFill>
            <a:srgbClr val="FFF2C6"/>
          </a:solidFill>
          <a:ln w="10160">
            <a:solidFill>
              <a:srgbClr val="9099A6"/>
            </a:solidFill>
            <a:prstDash val="solid"/>
          </a:ln>
        </p:spPr>
        <p:txBody>
          <a:bodyPr/>
          <a:p/>
        </p:txBody>
      </p:sp>
      <p:sp>
        <p:nvSpPr>
          <p:cNvPr id="28" name="Text 26"/>
          <p:cNvSpPr/>
          <p:nvPr/>
        </p:nvSpPr>
        <p:spPr>
          <a:xfrm>
            <a:off x="3849014"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29" name="Text 27"/>
          <p:cNvSpPr/>
          <p:nvPr/>
        </p:nvSpPr>
        <p:spPr>
          <a:xfrm>
            <a:off x="3867302"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Goal</a:t>
            </a:r>
            <a:endParaRPr lang="en-US" sz="670" dirty="0"/>
          </a:p>
        </p:txBody>
      </p:sp>
      <p:sp>
        <p:nvSpPr>
          <p:cNvPr id="30" name="Shape 28"/>
          <p:cNvSpPr/>
          <p:nvPr/>
        </p:nvSpPr>
        <p:spPr>
          <a:xfrm>
            <a:off x="4778451" y="9413748"/>
            <a:ext cx="109728" cy="146304"/>
          </a:xfrm>
          <a:prstGeom prst="rightArrow">
            <a:avLst/>
          </a:prstGeom>
          <a:solidFill>
            <a:srgbClr val="0B2545"/>
          </a:solidFill>
          <a:ln w="12700">
            <a:solidFill>
              <a:srgbClr val="0B2545"/>
            </a:solidFill>
            <a:prstDash val="solid"/>
          </a:ln>
        </p:spPr>
        <p:txBody>
          <a:bodyPr/>
          <a:p/>
        </p:txBody>
      </p:sp>
      <p:sp>
        <p:nvSpPr>
          <p:cNvPr id="31" name="Shape 29"/>
          <p:cNvSpPr/>
          <p:nvPr/>
        </p:nvSpPr>
        <p:spPr>
          <a:xfrm>
            <a:off x="4897323" y="8823960"/>
            <a:ext cx="892861" cy="1325880"/>
          </a:xfrm>
          <a:prstGeom prst="roundRect">
            <a:avLst>
              <a:gd name="adj" fmla="val 5121"/>
            </a:avLst>
          </a:prstGeom>
          <a:solidFill>
            <a:srgbClr val="EFE7FA"/>
          </a:solidFill>
          <a:ln w="10160">
            <a:solidFill>
              <a:srgbClr val="9099A6"/>
            </a:solidFill>
            <a:prstDash val="solid"/>
          </a:ln>
        </p:spPr>
        <p:txBody>
          <a:bodyPr/>
          <a:p/>
        </p:txBody>
      </p:sp>
      <p:sp>
        <p:nvSpPr>
          <p:cNvPr id="32" name="Text 30"/>
          <p:cNvSpPr/>
          <p:nvPr/>
        </p:nvSpPr>
        <p:spPr>
          <a:xfrm>
            <a:off x="4897323"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33" name="Text 31"/>
          <p:cNvSpPr/>
          <p:nvPr/>
        </p:nvSpPr>
        <p:spPr>
          <a:xfrm>
            <a:off x="4915611"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Worker</a:t>
            </a:r>
            <a:endParaRPr lang="en-US" sz="670" dirty="0"/>
          </a:p>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Policy</a:t>
            </a:r>
            <a:endParaRPr lang="en-US" sz="670" dirty="0"/>
          </a:p>
        </p:txBody>
      </p:sp>
      <p:sp>
        <p:nvSpPr>
          <p:cNvPr id="34" name="Shape 32"/>
          <p:cNvSpPr/>
          <p:nvPr/>
        </p:nvSpPr>
        <p:spPr>
          <a:xfrm>
            <a:off x="5826760" y="9413748"/>
            <a:ext cx="109728" cy="146304"/>
          </a:xfrm>
          <a:prstGeom prst="rightArrow">
            <a:avLst/>
          </a:prstGeom>
          <a:solidFill>
            <a:srgbClr val="0B2545"/>
          </a:solidFill>
          <a:ln w="12700">
            <a:solidFill>
              <a:srgbClr val="0B2545"/>
            </a:solidFill>
            <a:prstDash val="solid"/>
          </a:ln>
        </p:spPr>
        <p:txBody>
          <a:bodyPr/>
          <a:p/>
        </p:txBody>
      </p:sp>
      <p:sp>
        <p:nvSpPr>
          <p:cNvPr id="35" name="Shape 33"/>
          <p:cNvSpPr/>
          <p:nvPr/>
        </p:nvSpPr>
        <p:spPr>
          <a:xfrm>
            <a:off x="5945632" y="8823960"/>
            <a:ext cx="892861" cy="1325880"/>
          </a:xfrm>
          <a:prstGeom prst="roundRect">
            <a:avLst>
              <a:gd name="adj" fmla="val 5121"/>
            </a:avLst>
          </a:prstGeom>
          <a:solidFill>
            <a:srgbClr val="F3F4F6"/>
          </a:solidFill>
          <a:ln w="10160">
            <a:solidFill>
              <a:srgbClr val="9099A6"/>
            </a:solidFill>
            <a:prstDash val="solid"/>
          </a:ln>
        </p:spPr>
        <p:txBody>
          <a:bodyPr/>
          <a:p/>
        </p:txBody>
      </p:sp>
      <p:sp>
        <p:nvSpPr>
          <p:cNvPr id="36" name="Text 34"/>
          <p:cNvSpPr/>
          <p:nvPr/>
        </p:nvSpPr>
        <p:spPr>
          <a:xfrm>
            <a:off x="5945632" y="8933688"/>
            <a:ext cx="892861" cy="365760"/>
          </a:xfrm>
          <a:prstGeom prst="rect">
            <a:avLst/>
          </a:prstGeom>
          <a:noFill/>
          <a:ln/>
        </p:spPr>
        <p:txBody>
          <a:bodyPr wrap="square" lIns="0" tIns="0" rIns="0" bIns="0" rtlCol="0" anchor="t">
            <a:noAutofit/>
          </a:bodyPr>
          <a:lstStyle/>
          <a:p>
            <a:pPr algn="ctr" indent="0" marL="0">
              <a:buNone/>
            </a:pPr>
            <a:r>
              <a:rPr lang="en-US" sz="2200" dirty="0">
                <a:solidFill>
                  <a:srgbClr val="172033"/>
                </a:solidFill>
                <a:latin typeface="Noto Sans CJK KR" pitchFamily="34" charset="0"/>
                <a:ea typeface="Noto Sans CJK KR" pitchFamily="34" charset="-122"/>
                <a:cs typeface="Noto Sans CJK KR" pitchFamily="34" charset="-120"/>
              </a:rPr>
              <a:t>➜</a:t>
            </a:r>
            <a:endParaRPr lang="en-US" sz="1800" dirty="0"/>
          </a:p>
        </p:txBody>
      </p:sp>
      <p:sp>
        <p:nvSpPr>
          <p:cNvPr id="37" name="Text 35"/>
          <p:cNvSpPr/>
          <p:nvPr/>
        </p:nvSpPr>
        <p:spPr>
          <a:xfrm>
            <a:off x="5963920" y="9372600"/>
            <a:ext cx="856285" cy="731520"/>
          </a:xfrm>
          <a:prstGeom prst="rect">
            <a:avLst/>
          </a:prstGeom>
          <a:noFill/>
          <a:ln/>
        </p:spPr>
        <p:txBody>
          <a:bodyPr wrap="square" lIns="0" tIns="0" rIns="0" bIns="0" rtlCol="0" anchor="ctr">
            <a:noAutofit/>
          </a:bodyPr>
          <a:lstStyle/>
          <a:p>
            <a:pPr algn="ctr" indent="0" marL="0">
              <a:buNone/>
            </a:pPr>
            <a:r>
              <a:rPr lang="en-US" sz="750" dirty="0">
                <a:solidFill>
                  <a:srgbClr val="172033"/>
                </a:solidFill>
                <a:latin typeface="Noto Sans CJK KR" pitchFamily="34" charset="0"/>
                <a:ea typeface="Noto Sans CJK KR" pitchFamily="34" charset="-122"/>
                <a:cs typeface="Noto Sans CJK KR" pitchFamily="34" charset="-120"/>
              </a:rPr>
              <a:t>Action</a:t>
            </a:r>
            <a:endParaRPr lang="en-US" sz="670" dirty="0"/>
          </a:p>
        </p:txBody>
      </p:sp>
      <p:sp>
        <p:nvSpPr>
          <p:cNvPr id="38" name="Shape 36"/>
          <p:cNvSpPr/>
          <p:nvPr/>
        </p:nvSpPr>
        <p:spPr>
          <a:xfrm>
            <a:off x="731520" y="10469880"/>
            <a:ext cx="6079541" cy="1024128"/>
          </a:xfrm>
          <a:prstGeom prst="rect">
            <a:avLst/>
          </a:prstGeom>
          <a:solidFill>
            <a:srgbClr val="FFFFFF"/>
          </a:solidFill>
          <a:ln w="8890">
            <a:solidFill>
              <a:srgbClr val="0B2545"/>
            </a:solidFill>
            <a:prstDash val="solid"/>
          </a:ln>
        </p:spPr>
        <p:txBody>
          <a:bodyPr/>
          <a:p/>
        </p:txBody>
      </p:sp>
      <p:sp>
        <p:nvSpPr>
          <p:cNvPr id="39" name="Shape 37"/>
          <p:cNvSpPr/>
          <p:nvPr/>
        </p:nvSpPr>
        <p:spPr>
          <a:xfrm>
            <a:off x="731520" y="10469880"/>
            <a:ext cx="1993392" cy="512064"/>
          </a:xfrm>
          <a:prstGeom prst="rect">
            <a:avLst/>
          </a:prstGeom>
          <a:solidFill>
            <a:srgbClr val="1F77B4"/>
          </a:solidFill>
          <a:ln w="12700">
            <a:solidFill>
              <a:srgbClr val="1F77B4"/>
            </a:solidFill>
            <a:prstDash val="solid"/>
          </a:ln>
        </p:spPr>
        <p:txBody>
          <a:bodyPr/>
          <a:p/>
        </p:txBody>
      </p:sp>
      <p:sp>
        <p:nvSpPr>
          <p:cNvPr id="40" name="Shape 38"/>
          <p:cNvSpPr/>
          <p:nvPr/>
        </p:nvSpPr>
        <p:spPr>
          <a:xfrm>
            <a:off x="731520" y="10981944"/>
            <a:ext cx="1993392" cy="512064"/>
          </a:xfrm>
          <a:prstGeom prst="rect">
            <a:avLst/>
          </a:prstGeom>
          <a:solidFill>
            <a:srgbClr val="F28E2B"/>
          </a:solidFill>
          <a:ln w="12700">
            <a:solidFill>
              <a:srgbClr val="F28E2B"/>
            </a:solidFill>
            <a:prstDash val="solid"/>
          </a:ln>
        </p:spPr>
        <p:txBody>
          <a:bodyPr/>
          <a:p/>
        </p:txBody>
      </p:sp>
      <p:sp>
        <p:nvSpPr>
          <p:cNvPr id="41" name="Text 39"/>
          <p:cNvSpPr/>
          <p:nvPr/>
        </p:nvSpPr>
        <p:spPr>
          <a:xfrm>
            <a:off x="795528" y="10561320"/>
            <a:ext cx="1828800" cy="292608"/>
          </a:xfrm>
          <a:prstGeom prst="rect">
            <a:avLst/>
          </a:prstGeom>
          <a:noFill/>
          <a:ln/>
        </p:spPr>
        <p:txBody>
          <a:bodyPr wrap="square" lIns="254" tIns="254" rIns="254" bIns="254" rtlCol="0" anchor="ctr">
            <a:noAutofit/>
          </a:bodyPr>
          <a:lstStyle/>
          <a:p>
            <a:pPr algn="l" indent="0" marL="0">
              <a:buNone/>
            </a:pPr>
            <a:r>
              <a:rPr lang="en-US" sz="1000" b="1" dirty="0">
                <a:solidFill>
                  <a:srgbClr val="FFFFFF"/>
                </a:solidFill>
                <a:latin typeface="Noto Sans CJK KR" pitchFamily="34" charset="0"/>
                <a:ea typeface="Noto Sans CJK KR" pitchFamily="34" charset="-122"/>
                <a:cs typeface="Noto Sans CJK KR" pitchFamily="34" charset="-120"/>
              </a:rPr>
              <a:t>Vanilla FuN</a:t>
            </a:r>
            <a:endParaRPr lang="en-US" sz="850" dirty="0"/>
          </a:p>
        </p:txBody>
      </p:sp>
      <p:sp>
        <p:nvSpPr>
          <p:cNvPr id="42" name="Text 40"/>
          <p:cNvSpPr/>
          <p:nvPr/>
        </p:nvSpPr>
        <p:spPr>
          <a:xfrm>
            <a:off x="795528" y="11073384"/>
            <a:ext cx="1828800" cy="292608"/>
          </a:xfrm>
          <a:prstGeom prst="rect">
            <a:avLst/>
          </a:prstGeom>
          <a:noFill/>
          <a:ln/>
        </p:spPr>
        <p:txBody>
          <a:bodyPr wrap="square" lIns="254" tIns="254" rIns="254" bIns="254" rtlCol="0" anchor="ctr">
            <a:noAutofit/>
          </a:bodyPr>
          <a:lstStyle/>
          <a:p>
            <a:pPr algn="l" indent="0" marL="0">
              <a:buNone/>
            </a:pPr>
            <a:r>
              <a:rPr lang="en-US" sz="1000" b="1" dirty="0">
                <a:solidFill>
                  <a:srgbClr val="FFFFFF"/>
                </a:solidFill>
                <a:latin typeface="Noto Sans CJK KR" pitchFamily="34" charset="0"/>
                <a:ea typeface="Noto Sans CJK KR" pitchFamily="34" charset="-122"/>
                <a:cs typeface="Noto Sans CJK KR" pitchFamily="34" charset="-120"/>
              </a:rPr>
              <a:t>Memory Ablation</a:t>
            </a:r>
            <a:endParaRPr lang="en-US" sz="850" dirty="0"/>
          </a:p>
        </p:txBody>
      </p:sp>
      <p:sp>
        <p:nvSpPr>
          <p:cNvPr id="43" name="Text 41"/>
          <p:cNvSpPr/>
          <p:nvPr/>
        </p:nvSpPr>
        <p:spPr>
          <a:xfrm>
            <a:off x="2880360" y="10561320"/>
            <a:ext cx="3884981" cy="292608"/>
          </a:xfrm>
          <a:prstGeom prst="rect">
            <a:avLst/>
          </a:prstGeom>
          <a:noFill/>
          <a:ln/>
        </p:spPr>
        <p:txBody>
          <a:bodyPr wrap="square" lIns="254" tIns="254" rIns="254" bIns="254" rtlCol="0" anchor="ctr">
            <a:noAutofit/>
          </a:bodyPr>
          <a:lstStyle/>
          <a:p>
            <a:pPr algn="l" indent="0" marL="0">
              <a:buNone/>
            </a:pPr>
            <a:r>
              <a:rPr sz="950">
                <a:solidFill>
                  <a:srgbClr val="172033"/>
                </a:solidFill>
                <a:latin typeface="Noto Sans CJK KR"/>
              </a:rPr>
              <a:t>uses recurrent Manager memory</a:t>
            </a:r>
            <a:endParaRPr lang="en-US" sz="820" dirty="0"/>
          </a:p>
        </p:txBody>
      </p:sp>
      <p:sp>
        <p:nvSpPr>
          <p:cNvPr id="44" name="Text 42"/>
          <p:cNvSpPr/>
          <p:nvPr/>
        </p:nvSpPr>
        <p:spPr>
          <a:xfrm>
            <a:off x="2880360" y="11073384"/>
            <a:ext cx="3884981" cy="292608"/>
          </a:xfrm>
          <a:prstGeom prst="rect">
            <a:avLst/>
          </a:prstGeom>
          <a:noFill/>
          <a:ln/>
        </p:spPr>
        <p:txBody>
          <a:bodyPr wrap="square" lIns="254" tIns="254" rIns="254" bIns="254" rtlCol="0" anchor="ctr">
            <a:noAutofit/>
          </a:bodyPr>
          <a:lstStyle/>
          <a:p>
            <a:pPr algn="l" indent="0" marL="0">
              <a:buNone/>
            </a:pPr>
            <a:r>
              <a:rPr sz="950">
                <a:solidFill>
                  <a:srgbClr val="172033"/>
                </a:solidFill>
                <a:latin typeface="Noto Sans CJK KR"/>
              </a:rPr>
              <a:t>removes hidden state, keeps goal interface</a:t>
            </a:r>
            <a:endParaRPr lang="en-US" sz="820" dirty="0"/>
          </a:p>
        </p:txBody>
      </p:sp>
      <p:sp>
        <p:nvSpPr>
          <p:cNvPr id="45" name="Shape 43"/>
          <p:cNvSpPr/>
          <p:nvPr/>
        </p:nvSpPr>
        <p:spPr>
          <a:xfrm>
            <a:off x="886968" y="11887200"/>
            <a:ext cx="1325880" cy="1325880"/>
          </a:xfrm>
          <a:prstGeom prst="rect">
            <a:avLst/>
          </a:prstGeom>
          <a:solidFill>
            <a:srgbClr val="F8FAFC"/>
          </a:solidFill>
          <a:ln w="10160">
            <a:solidFill>
              <a:srgbClr val="C7D1DB"/>
            </a:solidFill>
            <a:prstDash val="solid"/>
          </a:ln>
        </p:spPr>
        <p:txBody>
          <a:bodyPr/>
          <a:p/>
        </p:txBody>
      </p:sp>
      <p:sp>
        <p:nvSpPr>
          <p:cNvPr id="46" name="Shape 44"/>
          <p:cNvSpPr/>
          <p:nvPr/>
        </p:nvSpPr>
        <p:spPr>
          <a:xfrm>
            <a:off x="886968" y="11887200"/>
            <a:ext cx="265176" cy="265176"/>
          </a:xfrm>
          <a:prstGeom prst="rect">
            <a:avLst/>
          </a:prstGeom>
          <a:solidFill>
            <a:srgbClr val="DCE5ED"/>
          </a:solidFill>
          <a:ln w="4445">
            <a:solidFill>
              <a:srgbClr val="D3D8DE"/>
            </a:solidFill>
            <a:prstDash val="solid"/>
          </a:ln>
        </p:spPr>
        <p:txBody>
          <a:bodyPr/>
          <a:p/>
        </p:txBody>
      </p:sp>
      <p:sp>
        <p:nvSpPr>
          <p:cNvPr id="47" name="Shape 45"/>
          <p:cNvSpPr/>
          <p:nvPr/>
        </p:nvSpPr>
        <p:spPr>
          <a:xfrm>
            <a:off x="886968" y="12152376"/>
            <a:ext cx="265176" cy="265176"/>
          </a:xfrm>
          <a:prstGeom prst="rect">
            <a:avLst/>
          </a:prstGeom>
          <a:solidFill>
            <a:srgbClr val="DCE5ED"/>
          </a:solidFill>
          <a:ln w="4445">
            <a:solidFill>
              <a:srgbClr val="D3D8DE"/>
            </a:solidFill>
            <a:prstDash val="solid"/>
          </a:ln>
        </p:spPr>
        <p:txBody>
          <a:bodyPr/>
          <a:p/>
        </p:txBody>
      </p:sp>
      <p:sp>
        <p:nvSpPr>
          <p:cNvPr id="48" name="Shape 46"/>
          <p:cNvSpPr/>
          <p:nvPr/>
        </p:nvSpPr>
        <p:spPr>
          <a:xfrm>
            <a:off x="886968" y="12417552"/>
            <a:ext cx="265176" cy="265176"/>
          </a:xfrm>
          <a:prstGeom prst="rect">
            <a:avLst/>
          </a:prstGeom>
          <a:solidFill>
            <a:srgbClr val="DCE5ED"/>
          </a:solidFill>
          <a:ln w="4445">
            <a:solidFill>
              <a:srgbClr val="D3D8DE"/>
            </a:solidFill>
            <a:prstDash val="solid"/>
          </a:ln>
        </p:spPr>
        <p:txBody>
          <a:bodyPr/>
          <a:p/>
        </p:txBody>
      </p:sp>
      <p:sp>
        <p:nvSpPr>
          <p:cNvPr id="49" name="Shape 47"/>
          <p:cNvSpPr/>
          <p:nvPr/>
        </p:nvSpPr>
        <p:spPr>
          <a:xfrm>
            <a:off x="886968" y="12682728"/>
            <a:ext cx="265176" cy="265176"/>
          </a:xfrm>
          <a:prstGeom prst="rect">
            <a:avLst/>
          </a:prstGeom>
          <a:solidFill>
            <a:srgbClr val="DCE5ED"/>
          </a:solidFill>
          <a:ln w="4445">
            <a:solidFill>
              <a:srgbClr val="D3D8DE"/>
            </a:solidFill>
            <a:prstDash val="solid"/>
          </a:ln>
        </p:spPr>
        <p:txBody>
          <a:bodyPr/>
          <a:p/>
        </p:txBody>
      </p:sp>
      <p:sp>
        <p:nvSpPr>
          <p:cNvPr id="50" name="Shape 48"/>
          <p:cNvSpPr/>
          <p:nvPr/>
        </p:nvSpPr>
        <p:spPr>
          <a:xfrm>
            <a:off x="886968" y="12947904"/>
            <a:ext cx="265176" cy="265176"/>
          </a:xfrm>
          <a:prstGeom prst="rect">
            <a:avLst/>
          </a:prstGeom>
          <a:solidFill>
            <a:srgbClr val="DCE5ED"/>
          </a:solidFill>
          <a:ln w="4445">
            <a:solidFill>
              <a:srgbClr val="D3D8DE"/>
            </a:solidFill>
            <a:prstDash val="solid"/>
          </a:ln>
        </p:spPr>
        <p:txBody>
          <a:bodyPr/>
          <a:p/>
        </p:txBody>
      </p:sp>
      <p:sp>
        <p:nvSpPr>
          <p:cNvPr id="51" name="Shape 49"/>
          <p:cNvSpPr/>
          <p:nvPr/>
        </p:nvSpPr>
        <p:spPr>
          <a:xfrm>
            <a:off x="1152144" y="11887200"/>
            <a:ext cx="265176" cy="265176"/>
          </a:xfrm>
          <a:prstGeom prst="rect">
            <a:avLst/>
          </a:prstGeom>
          <a:solidFill>
            <a:srgbClr val="DCE5ED"/>
          </a:solidFill>
          <a:ln w="4445">
            <a:solidFill>
              <a:srgbClr val="D3D8DE"/>
            </a:solidFill>
            <a:prstDash val="solid"/>
          </a:ln>
        </p:spPr>
        <p:txBody>
          <a:bodyPr/>
          <a:p/>
        </p:txBody>
      </p:sp>
      <p:sp>
        <p:nvSpPr>
          <p:cNvPr id="52" name="Shape 50"/>
          <p:cNvSpPr/>
          <p:nvPr/>
        </p:nvSpPr>
        <p:spPr>
          <a:xfrm>
            <a:off x="1152144" y="12152376"/>
            <a:ext cx="265176" cy="265176"/>
          </a:xfrm>
          <a:prstGeom prst="rect">
            <a:avLst/>
          </a:prstGeom>
          <a:solidFill>
            <a:srgbClr val="FFFFFF"/>
          </a:solidFill>
          <a:ln w="4445">
            <a:solidFill>
              <a:srgbClr val="D3D8DE"/>
            </a:solidFill>
            <a:prstDash val="solid"/>
          </a:ln>
        </p:spPr>
        <p:txBody>
          <a:bodyPr/>
          <a:p/>
        </p:txBody>
      </p:sp>
      <p:sp>
        <p:nvSpPr>
          <p:cNvPr id="53" name="Shape 51"/>
          <p:cNvSpPr/>
          <p:nvPr/>
        </p:nvSpPr>
        <p:spPr>
          <a:xfrm>
            <a:off x="1152144" y="12417552"/>
            <a:ext cx="265176" cy="265176"/>
          </a:xfrm>
          <a:prstGeom prst="rect">
            <a:avLst/>
          </a:prstGeom>
          <a:solidFill>
            <a:srgbClr val="FFFFFF"/>
          </a:solidFill>
          <a:ln w="4445">
            <a:solidFill>
              <a:srgbClr val="D3D8DE"/>
            </a:solidFill>
            <a:prstDash val="solid"/>
          </a:ln>
        </p:spPr>
        <p:txBody>
          <a:bodyPr/>
          <a:p/>
        </p:txBody>
      </p:sp>
      <p:sp>
        <p:nvSpPr>
          <p:cNvPr id="54" name="Shape 52"/>
          <p:cNvSpPr/>
          <p:nvPr/>
        </p:nvSpPr>
        <p:spPr>
          <a:xfrm>
            <a:off x="1152144" y="12682728"/>
            <a:ext cx="265176" cy="265176"/>
          </a:xfrm>
          <a:prstGeom prst="rect">
            <a:avLst/>
          </a:prstGeom>
          <a:solidFill>
            <a:srgbClr val="FFFFFF"/>
          </a:solidFill>
          <a:ln w="4445">
            <a:solidFill>
              <a:srgbClr val="D3D8DE"/>
            </a:solidFill>
            <a:prstDash val="solid"/>
          </a:ln>
        </p:spPr>
        <p:txBody>
          <a:bodyPr/>
          <a:p/>
        </p:txBody>
      </p:sp>
      <p:sp>
        <p:nvSpPr>
          <p:cNvPr id="55" name="Shape 53"/>
          <p:cNvSpPr/>
          <p:nvPr/>
        </p:nvSpPr>
        <p:spPr>
          <a:xfrm>
            <a:off x="1152144" y="12947904"/>
            <a:ext cx="265176" cy="265176"/>
          </a:xfrm>
          <a:prstGeom prst="rect">
            <a:avLst/>
          </a:prstGeom>
          <a:solidFill>
            <a:srgbClr val="DCE5ED"/>
          </a:solidFill>
          <a:ln w="4445">
            <a:solidFill>
              <a:srgbClr val="D3D8DE"/>
            </a:solidFill>
            <a:prstDash val="solid"/>
          </a:ln>
        </p:spPr>
        <p:txBody>
          <a:bodyPr/>
          <a:p/>
        </p:txBody>
      </p:sp>
      <p:sp>
        <p:nvSpPr>
          <p:cNvPr id="56" name="Shape 54"/>
          <p:cNvSpPr/>
          <p:nvPr/>
        </p:nvSpPr>
        <p:spPr>
          <a:xfrm>
            <a:off x="1417320" y="11887200"/>
            <a:ext cx="265176" cy="265176"/>
          </a:xfrm>
          <a:prstGeom prst="rect">
            <a:avLst/>
          </a:prstGeom>
          <a:solidFill>
            <a:srgbClr val="DCE5ED"/>
          </a:solidFill>
          <a:ln w="4445">
            <a:solidFill>
              <a:srgbClr val="D3D8DE"/>
            </a:solidFill>
            <a:prstDash val="solid"/>
          </a:ln>
        </p:spPr>
        <p:txBody>
          <a:bodyPr/>
          <a:p/>
        </p:txBody>
      </p:sp>
      <p:sp>
        <p:nvSpPr>
          <p:cNvPr id="57" name="Shape 55"/>
          <p:cNvSpPr/>
          <p:nvPr/>
        </p:nvSpPr>
        <p:spPr>
          <a:xfrm>
            <a:off x="1417320" y="12152376"/>
            <a:ext cx="265176" cy="265176"/>
          </a:xfrm>
          <a:prstGeom prst="rect">
            <a:avLst/>
          </a:prstGeom>
          <a:solidFill>
            <a:srgbClr val="FFFFFF"/>
          </a:solidFill>
          <a:ln w="4445">
            <a:solidFill>
              <a:srgbClr val="D3D8DE"/>
            </a:solidFill>
            <a:prstDash val="solid"/>
          </a:ln>
        </p:spPr>
        <p:txBody>
          <a:bodyPr/>
          <a:p/>
        </p:txBody>
      </p:sp>
      <p:sp>
        <p:nvSpPr>
          <p:cNvPr id="58" name="Shape 56"/>
          <p:cNvSpPr/>
          <p:nvPr/>
        </p:nvSpPr>
        <p:spPr>
          <a:xfrm>
            <a:off x="1417320" y="12417552"/>
            <a:ext cx="265176" cy="265176"/>
          </a:xfrm>
          <a:prstGeom prst="rect">
            <a:avLst/>
          </a:prstGeom>
          <a:solidFill>
            <a:srgbClr val="FFFFFF"/>
          </a:solidFill>
          <a:ln w="4445">
            <a:solidFill>
              <a:srgbClr val="D3D8DE"/>
            </a:solidFill>
            <a:prstDash val="solid"/>
          </a:ln>
        </p:spPr>
        <p:txBody>
          <a:bodyPr/>
          <a:p/>
        </p:txBody>
      </p:sp>
      <p:sp>
        <p:nvSpPr>
          <p:cNvPr id="59" name="Shape 57"/>
          <p:cNvSpPr/>
          <p:nvPr/>
        </p:nvSpPr>
        <p:spPr>
          <a:xfrm>
            <a:off x="1417320" y="12682728"/>
            <a:ext cx="265176" cy="265176"/>
          </a:xfrm>
          <a:prstGeom prst="rect">
            <a:avLst/>
          </a:prstGeom>
          <a:solidFill>
            <a:srgbClr val="FFFFFF"/>
          </a:solidFill>
          <a:ln w="4445">
            <a:solidFill>
              <a:srgbClr val="D3D8DE"/>
            </a:solidFill>
            <a:prstDash val="solid"/>
          </a:ln>
        </p:spPr>
        <p:txBody>
          <a:bodyPr/>
          <a:p/>
        </p:txBody>
      </p:sp>
      <p:sp>
        <p:nvSpPr>
          <p:cNvPr id="60" name="Shape 58"/>
          <p:cNvSpPr/>
          <p:nvPr/>
        </p:nvSpPr>
        <p:spPr>
          <a:xfrm>
            <a:off x="1417320" y="12947904"/>
            <a:ext cx="265176" cy="265176"/>
          </a:xfrm>
          <a:prstGeom prst="rect">
            <a:avLst/>
          </a:prstGeom>
          <a:solidFill>
            <a:srgbClr val="DCE5ED"/>
          </a:solidFill>
          <a:ln w="4445">
            <a:solidFill>
              <a:srgbClr val="D3D8DE"/>
            </a:solidFill>
            <a:prstDash val="solid"/>
          </a:ln>
        </p:spPr>
        <p:txBody>
          <a:bodyPr/>
          <a:p/>
        </p:txBody>
      </p:sp>
      <p:sp>
        <p:nvSpPr>
          <p:cNvPr id="61" name="Shape 59"/>
          <p:cNvSpPr/>
          <p:nvPr/>
        </p:nvSpPr>
        <p:spPr>
          <a:xfrm>
            <a:off x="1682496" y="11887200"/>
            <a:ext cx="265176" cy="265176"/>
          </a:xfrm>
          <a:prstGeom prst="rect">
            <a:avLst/>
          </a:prstGeom>
          <a:solidFill>
            <a:srgbClr val="DCE5ED"/>
          </a:solidFill>
          <a:ln w="4445">
            <a:solidFill>
              <a:srgbClr val="D3D8DE"/>
            </a:solidFill>
            <a:prstDash val="solid"/>
          </a:ln>
        </p:spPr>
        <p:txBody>
          <a:bodyPr/>
          <a:p/>
        </p:txBody>
      </p:sp>
      <p:sp>
        <p:nvSpPr>
          <p:cNvPr id="62" name="Shape 60"/>
          <p:cNvSpPr/>
          <p:nvPr/>
        </p:nvSpPr>
        <p:spPr>
          <a:xfrm>
            <a:off x="1682496" y="12152376"/>
            <a:ext cx="265176" cy="265176"/>
          </a:xfrm>
          <a:prstGeom prst="rect">
            <a:avLst/>
          </a:prstGeom>
          <a:solidFill>
            <a:srgbClr val="FFFFFF"/>
          </a:solidFill>
          <a:ln w="4445">
            <a:solidFill>
              <a:srgbClr val="D3D8DE"/>
            </a:solidFill>
            <a:prstDash val="solid"/>
          </a:ln>
        </p:spPr>
        <p:txBody>
          <a:bodyPr/>
          <a:p/>
        </p:txBody>
      </p:sp>
      <p:sp>
        <p:nvSpPr>
          <p:cNvPr id="63" name="Shape 61"/>
          <p:cNvSpPr/>
          <p:nvPr/>
        </p:nvSpPr>
        <p:spPr>
          <a:xfrm>
            <a:off x="1682496" y="12417552"/>
            <a:ext cx="265176" cy="265176"/>
          </a:xfrm>
          <a:prstGeom prst="rect">
            <a:avLst/>
          </a:prstGeom>
          <a:solidFill>
            <a:srgbClr val="FFFFFF"/>
          </a:solidFill>
          <a:ln w="4445">
            <a:solidFill>
              <a:srgbClr val="D3D8DE"/>
            </a:solidFill>
            <a:prstDash val="solid"/>
          </a:ln>
        </p:spPr>
        <p:txBody>
          <a:bodyPr/>
          <a:p/>
        </p:txBody>
      </p:sp>
      <p:sp>
        <p:nvSpPr>
          <p:cNvPr id="64" name="Shape 62"/>
          <p:cNvSpPr/>
          <p:nvPr/>
        </p:nvSpPr>
        <p:spPr>
          <a:xfrm>
            <a:off x="1682496" y="12682728"/>
            <a:ext cx="265176" cy="265176"/>
          </a:xfrm>
          <a:prstGeom prst="rect">
            <a:avLst/>
          </a:prstGeom>
          <a:solidFill>
            <a:srgbClr val="FFFFFF"/>
          </a:solidFill>
          <a:ln w="4445">
            <a:solidFill>
              <a:srgbClr val="D3D8DE"/>
            </a:solidFill>
            <a:prstDash val="solid"/>
          </a:ln>
        </p:spPr>
        <p:txBody>
          <a:bodyPr/>
          <a:p/>
        </p:txBody>
      </p:sp>
      <p:sp>
        <p:nvSpPr>
          <p:cNvPr id="65" name="Shape 63"/>
          <p:cNvSpPr/>
          <p:nvPr/>
        </p:nvSpPr>
        <p:spPr>
          <a:xfrm>
            <a:off x="1682496" y="12947904"/>
            <a:ext cx="265176" cy="265176"/>
          </a:xfrm>
          <a:prstGeom prst="rect">
            <a:avLst/>
          </a:prstGeom>
          <a:solidFill>
            <a:srgbClr val="DCE5ED"/>
          </a:solidFill>
          <a:ln w="4445">
            <a:solidFill>
              <a:srgbClr val="D3D8DE"/>
            </a:solidFill>
            <a:prstDash val="solid"/>
          </a:ln>
        </p:spPr>
        <p:txBody>
          <a:bodyPr/>
          <a:p/>
        </p:txBody>
      </p:sp>
      <p:sp>
        <p:nvSpPr>
          <p:cNvPr id="66" name="Shape 64"/>
          <p:cNvSpPr/>
          <p:nvPr/>
        </p:nvSpPr>
        <p:spPr>
          <a:xfrm>
            <a:off x="1947672" y="11887200"/>
            <a:ext cx="265176" cy="265176"/>
          </a:xfrm>
          <a:prstGeom prst="rect">
            <a:avLst/>
          </a:prstGeom>
          <a:solidFill>
            <a:srgbClr val="DCE5ED"/>
          </a:solidFill>
          <a:ln w="4445">
            <a:solidFill>
              <a:srgbClr val="D3D8DE"/>
            </a:solidFill>
            <a:prstDash val="solid"/>
          </a:ln>
        </p:spPr>
        <p:txBody>
          <a:bodyPr/>
          <a:p/>
        </p:txBody>
      </p:sp>
      <p:sp>
        <p:nvSpPr>
          <p:cNvPr id="67" name="Shape 65"/>
          <p:cNvSpPr/>
          <p:nvPr/>
        </p:nvSpPr>
        <p:spPr>
          <a:xfrm>
            <a:off x="1947672" y="12152376"/>
            <a:ext cx="265176" cy="265176"/>
          </a:xfrm>
          <a:prstGeom prst="rect">
            <a:avLst/>
          </a:prstGeom>
          <a:solidFill>
            <a:srgbClr val="DCE5ED"/>
          </a:solidFill>
          <a:ln w="4445">
            <a:solidFill>
              <a:srgbClr val="D3D8DE"/>
            </a:solidFill>
            <a:prstDash val="solid"/>
          </a:ln>
        </p:spPr>
        <p:txBody>
          <a:bodyPr/>
          <a:p/>
        </p:txBody>
      </p:sp>
      <p:sp>
        <p:nvSpPr>
          <p:cNvPr id="68" name="Shape 66"/>
          <p:cNvSpPr/>
          <p:nvPr/>
        </p:nvSpPr>
        <p:spPr>
          <a:xfrm>
            <a:off x="1947672" y="12417552"/>
            <a:ext cx="265176" cy="265176"/>
          </a:xfrm>
          <a:prstGeom prst="rect">
            <a:avLst/>
          </a:prstGeom>
          <a:solidFill>
            <a:srgbClr val="DCE5ED"/>
          </a:solidFill>
          <a:ln w="4445">
            <a:solidFill>
              <a:srgbClr val="D3D8DE"/>
            </a:solidFill>
            <a:prstDash val="solid"/>
          </a:ln>
        </p:spPr>
        <p:txBody>
          <a:bodyPr/>
          <a:p/>
        </p:txBody>
      </p:sp>
      <p:sp>
        <p:nvSpPr>
          <p:cNvPr id="69" name="Shape 67"/>
          <p:cNvSpPr/>
          <p:nvPr/>
        </p:nvSpPr>
        <p:spPr>
          <a:xfrm>
            <a:off x="1947672" y="12682728"/>
            <a:ext cx="265176" cy="265176"/>
          </a:xfrm>
          <a:prstGeom prst="rect">
            <a:avLst/>
          </a:prstGeom>
          <a:solidFill>
            <a:srgbClr val="DCE5ED"/>
          </a:solidFill>
          <a:ln w="4445">
            <a:solidFill>
              <a:srgbClr val="D3D8DE"/>
            </a:solidFill>
            <a:prstDash val="solid"/>
          </a:ln>
        </p:spPr>
        <p:txBody>
          <a:bodyPr/>
          <a:p/>
        </p:txBody>
      </p:sp>
      <p:sp>
        <p:nvSpPr>
          <p:cNvPr id="70" name="Shape 68"/>
          <p:cNvSpPr/>
          <p:nvPr/>
        </p:nvSpPr>
        <p:spPr>
          <a:xfrm>
            <a:off x="1947672" y="12947904"/>
            <a:ext cx="265176" cy="265176"/>
          </a:xfrm>
          <a:prstGeom prst="rect">
            <a:avLst/>
          </a:prstGeom>
          <a:solidFill>
            <a:srgbClr val="DCE5ED"/>
          </a:solidFill>
          <a:ln w="4445">
            <a:solidFill>
              <a:srgbClr val="D3D8DE"/>
            </a:solidFill>
            <a:prstDash val="solid"/>
          </a:ln>
        </p:spPr>
        <p:txBody>
          <a:bodyPr/>
          <a:p/>
        </p:txBody>
      </p:sp>
      <p:sp>
        <p:nvSpPr>
          <p:cNvPr id="71" name="Shape 69"/>
          <p:cNvSpPr/>
          <p:nvPr/>
        </p:nvSpPr>
        <p:spPr>
          <a:xfrm rot="5400000">
            <a:off x="1178662" y="12444070"/>
            <a:ext cx="145847" cy="145847"/>
          </a:xfrm>
          <a:prstGeom prst="triangle">
            <a:avLst/>
          </a:prstGeom>
          <a:solidFill>
            <a:srgbClr val="F28E2B"/>
          </a:solidFill>
          <a:ln w="12700">
            <a:solidFill>
              <a:srgbClr val="F28E2B"/>
            </a:solidFill>
            <a:prstDash val="solid"/>
          </a:ln>
        </p:spPr>
        <p:txBody>
          <a:bodyPr/>
          <a:p/>
        </p:txBody>
      </p:sp>
      <p:sp>
        <p:nvSpPr>
          <p:cNvPr id="72" name="Shape 70"/>
          <p:cNvSpPr/>
          <p:nvPr/>
        </p:nvSpPr>
        <p:spPr>
          <a:xfrm>
            <a:off x="1695755" y="12178894"/>
            <a:ext cx="145847" cy="145847"/>
          </a:xfrm>
          <a:prstGeom prst="star5">
            <a:avLst/>
          </a:prstGeom>
          <a:solidFill>
            <a:srgbClr val="F2C94C"/>
          </a:solidFill>
          <a:ln w="12700">
            <a:solidFill>
              <a:srgbClr val="F2C94C"/>
            </a:solidFill>
            <a:prstDash val="solid"/>
          </a:ln>
        </p:spPr>
        <p:txBody>
          <a:bodyPr/>
          <a:p/>
        </p:txBody>
      </p:sp>
      <p:sp>
        <p:nvSpPr>
          <p:cNvPr id="73" name="Shape 71"/>
          <p:cNvSpPr/>
          <p:nvPr/>
        </p:nvSpPr>
        <p:spPr>
          <a:xfrm>
            <a:off x="1417320" y="12417552"/>
            <a:ext cx="265176" cy="265176"/>
          </a:xfrm>
          <a:prstGeom prst="rect">
            <a:avLst/>
          </a:prstGeom>
          <a:solidFill>
            <a:srgbClr val="E8EEF4"/>
          </a:solidFill>
          <a:ln w="6350">
            <a:solidFill>
              <a:srgbClr val="7A8794"/>
            </a:solidFill>
            <a:prstDash val="solid"/>
          </a:ln>
        </p:spPr>
        <p:txBody>
          <a:bodyPr/>
          <a:p/>
        </p:txBody>
      </p:sp>
      <p:sp>
        <p:nvSpPr>
          <p:cNvPr id="74" name="Text 72"/>
          <p:cNvSpPr/>
          <p:nvPr/>
        </p:nvSpPr>
        <p:spPr>
          <a:xfrm>
            <a:off x="886968" y="13286232"/>
            <a:ext cx="1325880" cy="228600"/>
          </a:xfrm>
          <a:prstGeom prst="rect">
            <a:avLst/>
          </a:prstGeom>
          <a:noFill/>
          <a:ln/>
        </p:spPr>
        <p:txBody>
          <a:bodyPr wrap="square" lIns="0" tIns="0" rIns="0" bIns="0" rtlCol="0" anchor="t">
            <a:noAutofit/>
          </a:bodyPr>
          <a:lstStyle/>
          <a:p>
            <a:pPr algn="ctr" indent="0" marL="0">
              <a:buNone/>
            </a:pPr>
            <a:r>
              <a:rPr sz="750">
                <a:solidFill>
                  <a:srgbClr val="586174"/>
                </a:solidFill>
                <a:latin typeface="Noto Sans CJK KR"/>
              </a:rPr>
              <a:t>MiniGrid navigation</a:t>
            </a:r>
            <a:endParaRPr lang="en-US" sz="670" dirty="0"/>
          </a:p>
        </p:txBody>
      </p:sp>
      <p:sp>
        <p:nvSpPr>
          <p:cNvPr id="75" name="Text 73"/>
          <p:cNvSpPr/>
          <p:nvPr/>
        </p:nvSpPr>
        <p:spPr>
          <a:xfrm>
            <a:off x="2468880" y="11795760"/>
            <a:ext cx="4296461" cy="41605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80">
                <a:solidFill>
                  <a:srgbClr val="141F30"/>
                </a:solidFill>
                <a:latin typeface="Malgun Gothic"/>
              </a:rPr>
              <a:t>Vanilla FuN receives a state embedding from the observation encoder. The Manager updates a GRU-based recurrent hidden state and generates a goal vector. The Worker then receives both the current state embedding and the active goal, and outputs logits over the discrete MiniGrid action space. The goal is updated every fixed goal-update interval, and the same goal is reused between updates.</a:t>
            </a:r>
            <a:endParaRPr lang="en-US" sz="870" dirty="0"/>
          </a:p>
          <a:p>
            <a:r>
              <a:rPr sz="1180">
                <a:solidFill>
                  <a:srgbClr val="141F30"/>
                </a:solidFill>
                <a:latin typeface="Malgun Gothic"/>
              </a:rPr>
              <a:t/>
            </a:r>
          </a:p>
          <a:p>
            <a:r>
              <a:rPr sz="1180">
                <a:solidFill>
                  <a:srgbClr val="141F30"/>
                </a:solidFill>
                <a:latin typeface="Malgun Gothic"/>
              </a:rPr>
              <a:t>The Memory Ablation Manager changes only the memory mechanism. It removes the recurrent hidden state while keeping the goal interface, Worker network, rollout collection, loss structure, and evaluation pipeline as close as possible to the baseline. This makes the ablation a minimal intervention designed to isolate the effect of Manager memory.</a:t>
            </a:r>
          </a:p>
          <a:p>
            <a:r>
              <a:rPr sz="1180">
                <a:solidFill>
                  <a:srgbClr val="141F30"/>
                </a:solidFill>
                <a:latin typeface="Malgun Gothic"/>
              </a:rPr>
              <a:t/>
            </a:r>
          </a:p>
          <a:p>
            <a:r>
              <a:rPr sz="1180">
                <a:solidFill>
                  <a:srgbClr val="141F30"/>
                </a:solidFill>
                <a:latin typeface="Malgun Gothic"/>
              </a:rPr>
              <a:t>Both sample and argmax evaluations were used. Sample evaluation reflects the stochastic policy used during training, while argmax evaluation tests whether the policy has consolidated into a deterministic high-probability action sequence suitable for deployment-like execution.</a:t>
            </a:r>
          </a:p>
        </p:txBody>
      </p:sp>
      <p:sp>
        <p:nvSpPr>
          <p:cNvPr id="76" name="Shape 74"/>
          <p:cNvSpPr/>
          <p:nvPr/>
        </p:nvSpPr>
        <p:spPr>
          <a:xfrm>
            <a:off x="411480" y="16596360"/>
            <a:ext cx="6719621" cy="7818120"/>
          </a:xfrm>
          <a:prstGeom prst="roundRect">
            <a:avLst>
              <a:gd name="adj" fmla="val 1089"/>
            </a:avLst>
          </a:prstGeom>
          <a:solidFill>
            <a:srgbClr val="FFFFFF"/>
          </a:solidFill>
          <a:ln w="12700">
            <a:solidFill>
              <a:srgbClr val="C7D1DB"/>
            </a:solidFill>
            <a:prstDash val="solid"/>
          </a:ln>
        </p:spPr>
        <p:txBody>
          <a:bodyPr/>
          <a:p/>
        </p:txBody>
      </p:sp>
      <p:sp>
        <p:nvSpPr>
          <p:cNvPr id="77" name="Shape 75"/>
          <p:cNvSpPr/>
          <p:nvPr/>
        </p:nvSpPr>
        <p:spPr>
          <a:xfrm>
            <a:off x="576072" y="1676095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78" name="Text 76"/>
          <p:cNvSpPr/>
          <p:nvPr/>
        </p:nvSpPr>
        <p:spPr>
          <a:xfrm>
            <a:off x="576072" y="1680210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3.</a:t>
            </a:r>
            <a:endParaRPr lang="en-US" sz="1400" dirty="0"/>
          </a:p>
        </p:txBody>
      </p:sp>
      <p:sp>
        <p:nvSpPr>
          <p:cNvPr id="79" name="Text 77"/>
          <p:cNvSpPr/>
          <p:nvPr/>
        </p:nvSpPr>
        <p:spPr>
          <a:xfrm>
            <a:off x="1188720" y="1675180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Experimental Setup</a:t>
            </a:r>
            <a:endParaRPr lang="en-US" sz="1300" dirty="0"/>
          </a:p>
        </p:txBody>
      </p:sp>
      <p:sp>
        <p:nvSpPr>
          <p:cNvPr id="80" name="Text 78"/>
          <p:cNvSpPr/>
          <p:nvPr/>
        </p:nvSpPr>
        <p:spPr>
          <a:xfrm>
            <a:off x="731520" y="17465040"/>
            <a:ext cx="6079541" cy="66751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340">
                <a:solidFill>
                  <a:srgbClr val="141F30"/>
                </a:solidFill>
                <a:latin typeface="Malgun Gothic"/>
              </a:rPr>
              <a:t>The study was expanded step by step. In the first stage, I implemented MiniGrid execution, observation preprocessing, rollout logging, and the forward-pass structure for the Encoder, Manager, Worker, and FuNModel. In the second stage, I connected rollout collection, reward-to-go returns, advantage computation, worker/value/manager losses, trainer logic, optimizer updates, evaluation, and CSV/JSON logging to make Vanilla FuN trainable.</a:t>
            </a:r>
            <a:endParaRPr lang="en-US" sz="930" dirty="0"/>
          </a:p>
          <a:p>
            <a:r>
              <a:rPr sz="1340">
                <a:solidFill>
                  <a:srgbClr val="141F30"/>
                </a:solidFill>
                <a:latin typeface="Malgun Gothic"/>
              </a:rPr>
              <a:t/>
            </a:r>
          </a:p>
          <a:p>
            <a:r>
              <a:rPr sz="1340">
                <a:solidFill>
                  <a:srgbClr val="141F30"/>
                </a:solidFill>
                <a:latin typeface="Malgun Gothic"/>
              </a:rPr>
              <a:t>Next, I stabilized the baseline by adding checkpoint save/load, seed-separated logs, GCP execution, and sample/argmax checkpoint evaluation. The same training pipeline was then reused for the Memory Ablation Manager.</a:t>
            </a:r>
          </a:p>
          <a:p>
            <a:r>
              <a:rPr sz="1340">
                <a:solidFill>
                  <a:srgbClr val="141F30"/>
                </a:solidFill>
                <a:latin typeface="Malgun Gothic"/>
              </a:rPr>
              <a:t/>
            </a:r>
          </a:p>
          <a:p>
            <a:r>
              <a:rPr sz="1340">
                <a:solidFill>
                  <a:srgbClr val="141F30"/>
                </a:solidFill>
                <a:latin typeface="Malgun Gothic"/>
              </a:rPr>
              <a:t>The experiments were extended from DoorKey to MultiRoom environments: DoorKey-6x6, MultiRoom N3-S5, MultiRoom N4-S4, and the harder MultiRoom N4-S5 boundary setting. The main metrics were success rate, mean return, episode length, success AUC, and the episode at which a success threshold was first reached.</a:t>
            </a:r>
          </a:p>
        </p:txBody>
      </p:sp>
      <p:sp>
        <p:nvSpPr>
          <p:cNvPr id="81" name="Shape 79"/>
          <p:cNvSpPr/>
          <p:nvPr/>
        </p:nvSpPr>
        <p:spPr>
          <a:xfrm>
            <a:off x="7332269" y="2514600"/>
            <a:ext cx="6719621" cy="10012680"/>
          </a:xfrm>
          <a:prstGeom prst="roundRect">
            <a:avLst>
              <a:gd name="adj" fmla="val 1089"/>
            </a:avLst>
          </a:prstGeom>
          <a:solidFill>
            <a:srgbClr val="FFFFFF"/>
          </a:solidFill>
          <a:ln w="12700">
            <a:solidFill>
              <a:srgbClr val="C7D1DB"/>
            </a:solidFill>
            <a:prstDash val="solid"/>
          </a:ln>
        </p:spPr>
        <p:txBody>
          <a:bodyPr/>
          <a:p/>
        </p:txBody>
      </p:sp>
      <p:sp>
        <p:nvSpPr>
          <p:cNvPr id="82" name="Shape 80"/>
          <p:cNvSpPr/>
          <p:nvPr/>
        </p:nvSpPr>
        <p:spPr>
          <a:xfrm>
            <a:off x="7496861"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83" name="Text 81"/>
          <p:cNvSpPr/>
          <p:nvPr/>
        </p:nvSpPr>
        <p:spPr>
          <a:xfrm>
            <a:off x="7496861"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4.</a:t>
            </a:r>
            <a:endParaRPr lang="en-US" sz="1400" dirty="0"/>
          </a:p>
        </p:txBody>
      </p:sp>
      <p:sp>
        <p:nvSpPr>
          <p:cNvPr id="84" name="Text 82"/>
          <p:cNvSpPr/>
          <p:nvPr/>
        </p:nvSpPr>
        <p:spPr>
          <a:xfrm>
            <a:off x="8109509" y="2670048"/>
            <a:ext cx="5759501" cy="502920"/>
          </a:xfrm>
          <a:prstGeom prst="rect">
            <a:avLst/>
          </a:prstGeom>
          <a:noFill/>
          <a:ln/>
        </p:spPr>
        <p:txBody>
          <a:bodyPr wrap="square" lIns="254" tIns="254" rIns="254" bIns="254" rtlCol="0" anchor="ctr">
            <a:noAutofit/>
          </a:bodyPr>
          <a:lstStyle/>
          <a:p>
            <a:pPr algn="l" indent="0" marL="0">
              <a:buNone/>
            </a:pPr>
            <a:r>
              <a:rPr sz="1550" b="1">
                <a:solidFill>
                  <a:srgbClr val="172033"/>
                </a:solidFill>
                <a:latin typeface="Noto Sans CJK KR"/>
              </a:rPr>
              <a:t>Result 1 — DoorKey-6x6:</a:t>
            </a:r>
            <a:endParaRPr lang="en-US" sz="1220" dirty="0"/>
          </a:p>
          <a:p>
            <a:r>
              <a:rPr sz="1550" b="1">
                <a:solidFill>
                  <a:srgbClr val="172033"/>
                </a:solidFill>
                <a:latin typeface="Noto Sans CJK KR"/>
              </a:rPr>
              <a:t>Sample Efficiency under a Limited Budget</a:t>
            </a:r>
          </a:p>
        </p:txBody>
      </p:sp>
      <p:pic>
        <p:nvPicPr>
          <p:cNvPr id="300" name="DoorKey-6x6 PNG graph"/>
          <p:cNvPicPr>
            <a:picLocks noChangeAspect="1"/>
          </p:cNvPicPr>
          <p:nvPr/>
        </p:nvPicPr>
        <p:blipFill>
          <a:blip r:embed="rId3"/>
          <a:stretch>
            <a:fillRect/>
          </a:stretch>
        </p:blipFill>
        <p:spPr>
          <a:xfrm>
            <a:off x="7679741" y="3958117"/>
            <a:ext cx="6024677" cy="3641782"/>
          </a:xfrm>
          <a:prstGeom prst="rect">
            <a:avLst/>
          </a:prstGeom>
        </p:spPr>
      </p:pic>
      <p:sp>
        <p:nvSpPr>
          <p:cNvPr id="120" name="Text 118"/>
          <p:cNvSpPr/>
          <p:nvPr/>
        </p:nvSpPr>
        <p:spPr>
          <a:xfrm>
            <a:off x="7743749" y="8321040"/>
            <a:ext cx="5896661" cy="388620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80">
                <a:solidFill>
                  <a:srgbClr val="141F30"/>
                </a:solidFill>
                <a:latin typeface="Malgun Gothic"/>
              </a:rPr>
              <a:t>DoorKey-6x6 is harder than the simple DoorKey-5x5 task, but it remains a useful environment for comparing learning dynamics. Under a 3000-episode budget, Memory Ablation achieved a sample success rate of 0.993, while Vanilla FuN reached only 0.423. This shows that the ablated Manager formed a successful stochastic behavior distribution much faster under the same training budget.</a:t>
            </a:r>
            <a:endParaRPr lang="en-US" sz="890" dirty="0"/>
          </a:p>
          <a:p>
            <a:r>
              <a:rPr sz="1180">
                <a:solidFill>
                  <a:srgbClr val="141F30"/>
                </a:solidFill>
                <a:latin typeface="Malgun Gothic"/>
              </a:rPr>
              <a:t/>
            </a:r>
          </a:p>
          <a:p>
            <a:r>
              <a:rPr sz="1180">
                <a:solidFill>
                  <a:srgbClr val="141F30"/>
                </a:solidFill>
                <a:latin typeface="Malgun Gothic"/>
              </a:rPr>
              <a:t>When the same checkpoints were evaluated with argmax actions, both models performed worse than in sample mode, but Memory Ablation still performed better: 0.223 versus 0.113. This gap indicates that the policy had learned successful trajectories in its stochastic distribution before those trajectories became the dominant deterministic choice.</a:t>
            </a:r>
          </a:p>
          <a:p>
            <a:r>
              <a:rPr sz="1180">
                <a:solidFill>
                  <a:srgbClr val="141F30"/>
                </a:solidFill>
                <a:latin typeface="Malgun Gothic"/>
              </a:rPr>
              <a:t/>
            </a:r>
          </a:p>
          <a:p>
            <a:r>
              <a:rPr sz="1180">
                <a:solidFill>
                  <a:srgbClr val="141F30"/>
                </a:solidFill>
                <a:latin typeface="Malgun Gothic"/>
              </a:rPr>
              <a:t>With a larger two-stage budget, the difference mostly disappeared. After 5000 episodes of training and 1000 episodes of low-entropy fine-tuning, both models reached a mean argmax success of 0.943. Therefore, the advantage of Memory Ablation should be interpreted as faster and more consistent learning under limited budget, not as a strict final-performance superiority.</a:t>
            </a:r>
          </a:p>
        </p:txBody>
      </p:sp>
      <p:sp>
        <p:nvSpPr>
          <p:cNvPr id="121" name="Shape 119"/>
          <p:cNvSpPr/>
          <p:nvPr/>
        </p:nvSpPr>
        <p:spPr>
          <a:xfrm>
            <a:off x="7332269" y="12755880"/>
            <a:ext cx="6719621" cy="13853160"/>
          </a:xfrm>
          <a:prstGeom prst="roundRect">
            <a:avLst>
              <a:gd name="adj" fmla="val 1089"/>
            </a:avLst>
          </a:prstGeom>
          <a:solidFill>
            <a:srgbClr val="FFFFFF"/>
          </a:solidFill>
          <a:ln w="12700">
            <a:solidFill>
              <a:srgbClr val="C7D1DB"/>
            </a:solidFill>
            <a:prstDash val="solid"/>
          </a:ln>
        </p:spPr>
        <p:txBody>
          <a:bodyPr/>
          <a:p/>
        </p:txBody>
      </p:sp>
      <p:sp>
        <p:nvSpPr>
          <p:cNvPr id="122" name="Shape 120"/>
          <p:cNvSpPr/>
          <p:nvPr/>
        </p:nvSpPr>
        <p:spPr>
          <a:xfrm>
            <a:off x="7496861" y="1292047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23" name="Text 121"/>
          <p:cNvSpPr/>
          <p:nvPr/>
        </p:nvSpPr>
        <p:spPr>
          <a:xfrm>
            <a:off x="7496861" y="1296162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5.</a:t>
            </a:r>
            <a:endParaRPr lang="en-US" sz="1400" dirty="0"/>
          </a:p>
        </p:txBody>
      </p:sp>
      <p:sp>
        <p:nvSpPr>
          <p:cNvPr id="124" name="Text 122"/>
          <p:cNvSpPr/>
          <p:nvPr/>
        </p:nvSpPr>
        <p:spPr>
          <a:xfrm>
            <a:off x="8109509" y="12911328"/>
            <a:ext cx="5759501" cy="502920"/>
          </a:xfrm>
          <a:prstGeom prst="rect">
            <a:avLst/>
          </a:prstGeom>
          <a:noFill/>
          <a:ln/>
        </p:spPr>
        <p:txBody>
          <a:bodyPr wrap="square" lIns="254" tIns="254" rIns="254" bIns="254" rtlCol="0" anchor="ctr">
            <a:noAutofit/>
          </a:bodyPr>
          <a:lstStyle/>
          <a:p>
            <a:pPr algn="l" indent="0" marL="0">
              <a:buNone/>
            </a:pPr>
            <a:r>
              <a:rPr sz="1550" b="1">
                <a:solidFill>
                  <a:srgbClr val="172033"/>
                </a:solidFill>
                <a:latin typeface="Noto Sans CJK KR"/>
              </a:rPr>
              <a:t>Result 2 — MultiRoom N4-S4:</a:t>
            </a:r>
            <a:endParaRPr lang="en-US" sz="1200" dirty="0"/>
          </a:p>
          <a:p>
            <a:r>
              <a:rPr sz="1550" b="1">
                <a:solidFill>
                  <a:srgbClr val="172033"/>
                </a:solidFill>
                <a:latin typeface="Noto Sans CJK KR"/>
              </a:rPr>
              <a:t>Same Final Success, Different Learning Process</a:t>
            </a:r>
          </a:p>
        </p:txBody>
      </p:sp>
      <p:pic>
        <p:nvPicPr>
          <p:cNvPr id="301" name="MultiRoom N4-S4 AUC and speed PNG graph"/>
          <p:cNvPicPr>
            <a:picLocks noChangeAspect="1"/>
          </p:cNvPicPr>
          <p:nvPr/>
        </p:nvPicPr>
        <p:blipFill>
          <a:blip r:embed="rId4"/>
          <a:stretch>
            <a:fillRect/>
          </a:stretch>
        </p:blipFill>
        <p:spPr>
          <a:xfrm>
            <a:off x="7624877" y="13950247"/>
            <a:ext cx="6134405" cy="2579506"/>
          </a:xfrm>
          <a:prstGeom prst="rect">
            <a:avLst/>
          </a:prstGeom>
        </p:spPr>
      </p:pic>
      <p:pic>
        <p:nvPicPr>
          <p:cNvPr id="302" name="MultiRoom N4-S4 final episode length PNG graph"/>
          <p:cNvPicPr>
            <a:picLocks noChangeAspect="1"/>
          </p:cNvPicPr>
          <p:nvPr/>
        </p:nvPicPr>
        <p:blipFill>
          <a:blip r:embed="rId5"/>
          <a:stretch>
            <a:fillRect/>
          </a:stretch>
        </p:blipFill>
        <p:spPr>
          <a:xfrm>
            <a:off x="7624877" y="17156045"/>
            <a:ext cx="6134405" cy="3708110"/>
          </a:xfrm>
          <a:prstGeom prst="rect">
            <a:avLst/>
          </a:prstGeom>
        </p:spPr>
      </p:pic>
      <p:sp>
        <p:nvSpPr>
          <p:cNvPr id="169" name="Text 167"/>
          <p:cNvSpPr/>
          <p:nvPr/>
        </p:nvSpPr>
        <p:spPr>
          <a:xfrm>
            <a:off x="7743749" y="21488400"/>
            <a:ext cx="5896661" cy="256032"/>
          </a:xfrm>
          <a:prstGeom prst="rect">
            <a:avLst/>
          </a:prstGeom>
          <a:noFill/>
          <a:ln/>
        </p:spPr>
        <p:txBody>
          <a:bodyPr wrap="square" lIns="0" tIns="0" rIns="0" bIns="0" rtlCol="0" anchor="t">
            <a:noAutofit/>
          </a:bodyPr>
          <a:lstStyle/>
          <a:p>
            <a:pPr algn="ctr" indent="0" marL="0">
              <a:buNone/>
            </a:pPr>
            <a:r>
              <a:rPr sz="1200" b="1">
                <a:solidFill>
                  <a:srgbClr val="172033"/>
                </a:solidFill>
                <a:latin typeface="Noto Sans CJK KR"/>
              </a:rPr>
              <a:t>MultiRoom N3-S5 bridge result (argmax)</a:t>
            </a:r>
            <a:endParaRPr lang="en-US" sz="900" dirty="0"/>
          </a:p>
        </p:txBody>
      </p:sp>
      <p:sp>
        <p:nvSpPr>
          <p:cNvPr id="170" name="Shape 168"/>
          <p:cNvSpPr/>
          <p:nvPr/>
        </p:nvSpPr>
        <p:spPr>
          <a:xfrm>
            <a:off x="7743749" y="21808440"/>
            <a:ext cx="5896661" cy="320040"/>
          </a:xfrm>
          <a:prstGeom prst="rect">
            <a:avLst/>
          </a:prstGeom>
          <a:solidFill>
            <a:srgbClr val="EAF2FA"/>
          </a:solidFill>
          <a:ln w="6350">
            <a:solidFill>
              <a:srgbClr val="C7D1DB"/>
            </a:solidFill>
            <a:prstDash val="solid"/>
          </a:ln>
        </p:spPr>
        <p:txBody>
          <a:bodyPr/>
          <a:p/>
        </p:txBody>
      </p:sp>
      <p:sp>
        <p:nvSpPr>
          <p:cNvPr id="171" name="Text 169"/>
          <p:cNvSpPr/>
          <p:nvPr/>
        </p:nvSpPr>
        <p:spPr>
          <a:xfrm>
            <a:off x="7780325" y="21845016"/>
            <a:ext cx="2757245" cy="265176"/>
          </a:xfrm>
          <a:prstGeom prst="rect">
            <a:avLst/>
          </a:prstGeom>
          <a:noFill/>
          <a:ln/>
        </p:spPr>
        <p:txBody>
          <a:bodyPr wrap="square" lIns="0" tIns="0" rIns="0" bIns="0" rtlCol="0" anchor="ctr">
            <a:noAutofit/>
          </a:bodyPr>
          <a:lstStyle/>
          <a:p>
            <a:pPr algn="l" indent="0" marL="0">
              <a:buNone/>
            </a:pPr>
            <a:r>
              <a:rPr lang="en-US" sz="819" b="1" dirty="0">
                <a:solidFill>
                  <a:srgbClr val="172033"/>
                </a:solidFill>
                <a:latin typeface="Noto Sans CJK KR" pitchFamily="34" charset="0"/>
                <a:ea typeface="Noto Sans CJK KR" pitchFamily="34" charset="-122"/>
                <a:cs typeface="Noto Sans CJK KR" pitchFamily="34" charset="-120"/>
              </a:rPr>
              <a:t>Metric</a:t>
            </a:r>
            <a:endParaRPr lang="en-US" sz="710" dirty="0"/>
          </a:p>
        </p:txBody>
      </p:sp>
      <p:sp>
        <p:nvSpPr>
          <p:cNvPr id="172" name="Shape 170"/>
          <p:cNvSpPr/>
          <p:nvPr/>
        </p:nvSpPr>
        <p:spPr>
          <a:xfrm>
            <a:off x="10574146" y="21808440"/>
            <a:ext cx="0" cy="320040"/>
          </a:xfrm>
          <a:prstGeom prst="line">
            <a:avLst/>
          </a:prstGeom>
          <a:noFill/>
          <a:ln w="6350">
            <a:solidFill>
              <a:srgbClr val="C7D1DB"/>
            </a:solidFill>
            <a:prstDash val="solid"/>
          </a:ln>
        </p:spPr>
        <p:txBody>
          <a:bodyPr/>
          <a:p/>
        </p:txBody>
      </p:sp>
      <p:sp>
        <p:nvSpPr>
          <p:cNvPr id="173" name="Text 171"/>
          <p:cNvSpPr/>
          <p:nvPr/>
        </p:nvSpPr>
        <p:spPr>
          <a:xfrm>
            <a:off x="10610722" y="21845016"/>
            <a:ext cx="1459980" cy="265176"/>
          </a:xfrm>
          <a:prstGeom prst="rect">
            <a:avLst/>
          </a:prstGeom>
          <a:noFill/>
          <a:ln/>
        </p:spPr>
        <p:txBody>
          <a:bodyPr wrap="square" lIns="0" tIns="0" rIns="0" bIns="0" rtlCol="0" anchor="ctr">
            <a:noAutofit/>
          </a:bodyPr>
          <a:lstStyle/>
          <a:p>
            <a:pPr algn="ctr" indent="0" marL="0">
              <a:buNone/>
            </a:pPr>
            <a:r>
              <a:rPr lang="en-US" sz="819" b="1" dirty="0">
                <a:solidFill>
                  <a:srgbClr val="172033"/>
                </a:solidFill>
                <a:latin typeface="Noto Sans CJK KR" pitchFamily="34" charset="0"/>
                <a:ea typeface="Noto Sans CJK KR" pitchFamily="34" charset="-122"/>
                <a:cs typeface="Noto Sans CJK KR" pitchFamily="34" charset="-120"/>
              </a:rPr>
              <a:t>Vanilla FuN</a:t>
            </a:r>
            <a:endParaRPr lang="en-US" sz="710" dirty="0"/>
          </a:p>
        </p:txBody>
      </p:sp>
      <p:sp>
        <p:nvSpPr>
          <p:cNvPr id="174" name="Shape 172"/>
          <p:cNvSpPr/>
          <p:nvPr/>
        </p:nvSpPr>
        <p:spPr>
          <a:xfrm>
            <a:off x="12107278" y="21808440"/>
            <a:ext cx="0" cy="320040"/>
          </a:xfrm>
          <a:prstGeom prst="line">
            <a:avLst/>
          </a:prstGeom>
          <a:noFill/>
          <a:ln w="6350">
            <a:solidFill>
              <a:srgbClr val="C7D1DB"/>
            </a:solidFill>
            <a:prstDash val="solid"/>
          </a:ln>
        </p:spPr>
        <p:txBody>
          <a:bodyPr/>
          <a:p/>
        </p:txBody>
      </p:sp>
      <p:sp>
        <p:nvSpPr>
          <p:cNvPr id="175" name="Text 173"/>
          <p:cNvSpPr/>
          <p:nvPr/>
        </p:nvSpPr>
        <p:spPr>
          <a:xfrm>
            <a:off x="12143854" y="21845016"/>
            <a:ext cx="1459980" cy="265176"/>
          </a:xfrm>
          <a:prstGeom prst="rect">
            <a:avLst/>
          </a:prstGeom>
          <a:noFill/>
          <a:ln/>
        </p:spPr>
        <p:txBody>
          <a:bodyPr wrap="square" lIns="0" tIns="0" rIns="0" bIns="0" rtlCol="0" anchor="ctr">
            <a:noAutofit/>
          </a:bodyPr>
          <a:lstStyle/>
          <a:p>
            <a:pPr algn="ctr" indent="0" marL="0">
              <a:buNone/>
            </a:pPr>
            <a:r>
              <a:rPr lang="en-US" sz="819" b="1" dirty="0">
                <a:solidFill>
                  <a:srgbClr val="172033"/>
                </a:solidFill>
                <a:latin typeface="Noto Sans CJK KR" pitchFamily="34" charset="0"/>
                <a:ea typeface="Noto Sans CJK KR" pitchFamily="34" charset="-122"/>
                <a:cs typeface="Noto Sans CJK KR" pitchFamily="34" charset="-120"/>
              </a:rPr>
              <a:t>Memory Ablation</a:t>
            </a:r>
            <a:endParaRPr lang="en-US" sz="710" dirty="0"/>
          </a:p>
        </p:txBody>
      </p:sp>
      <p:sp>
        <p:nvSpPr>
          <p:cNvPr id="176" name="Shape 174"/>
          <p:cNvSpPr/>
          <p:nvPr/>
        </p:nvSpPr>
        <p:spPr>
          <a:xfrm>
            <a:off x="7743749" y="22128480"/>
            <a:ext cx="5896661" cy="320040"/>
          </a:xfrm>
          <a:prstGeom prst="rect">
            <a:avLst/>
          </a:prstGeom>
          <a:solidFill>
            <a:srgbClr val="FFFFFF"/>
          </a:solidFill>
          <a:ln w="6350">
            <a:solidFill>
              <a:srgbClr val="C7D1DB"/>
            </a:solidFill>
            <a:prstDash val="solid"/>
          </a:ln>
        </p:spPr>
        <p:txBody>
          <a:bodyPr/>
          <a:p/>
        </p:txBody>
      </p:sp>
      <p:sp>
        <p:nvSpPr>
          <p:cNvPr id="177" name="Text 175"/>
          <p:cNvSpPr/>
          <p:nvPr/>
        </p:nvSpPr>
        <p:spPr>
          <a:xfrm>
            <a:off x="7780325" y="2216505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success</a:t>
            </a:r>
            <a:endParaRPr lang="en-US" sz="670" dirty="0"/>
          </a:p>
        </p:txBody>
      </p:sp>
      <p:sp>
        <p:nvSpPr>
          <p:cNvPr id="178" name="Shape 176"/>
          <p:cNvSpPr/>
          <p:nvPr/>
        </p:nvSpPr>
        <p:spPr>
          <a:xfrm>
            <a:off x="10574146" y="22128480"/>
            <a:ext cx="0" cy="320040"/>
          </a:xfrm>
          <a:prstGeom prst="line">
            <a:avLst/>
          </a:prstGeom>
          <a:noFill/>
          <a:ln w="6350">
            <a:solidFill>
              <a:srgbClr val="C7D1DB"/>
            </a:solidFill>
            <a:prstDash val="solid"/>
          </a:ln>
        </p:spPr>
        <p:txBody>
          <a:bodyPr/>
          <a:p/>
        </p:txBody>
      </p:sp>
      <p:sp>
        <p:nvSpPr>
          <p:cNvPr id="179" name="Text 177"/>
          <p:cNvSpPr/>
          <p:nvPr/>
        </p:nvSpPr>
        <p:spPr>
          <a:xfrm>
            <a:off x="10610722" y="2216505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1.000</a:t>
            </a:r>
            <a:endParaRPr lang="en-US" sz="670" dirty="0"/>
          </a:p>
        </p:txBody>
      </p:sp>
      <p:sp>
        <p:nvSpPr>
          <p:cNvPr id="180" name="Shape 178"/>
          <p:cNvSpPr/>
          <p:nvPr/>
        </p:nvSpPr>
        <p:spPr>
          <a:xfrm>
            <a:off x="12107278" y="22128480"/>
            <a:ext cx="0" cy="320040"/>
          </a:xfrm>
          <a:prstGeom prst="line">
            <a:avLst/>
          </a:prstGeom>
          <a:noFill/>
          <a:ln w="6350">
            <a:solidFill>
              <a:srgbClr val="C7D1DB"/>
            </a:solidFill>
            <a:prstDash val="solid"/>
          </a:ln>
        </p:spPr>
        <p:txBody>
          <a:bodyPr/>
          <a:p/>
        </p:txBody>
      </p:sp>
      <p:sp>
        <p:nvSpPr>
          <p:cNvPr id="181" name="Text 179"/>
          <p:cNvSpPr/>
          <p:nvPr/>
        </p:nvSpPr>
        <p:spPr>
          <a:xfrm>
            <a:off x="12143854" y="2216505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1.000</a:t>
            </a:r>
            <a:endParaRPr lang="en-US" sz="670" dirty="0"/>
          </a:p>
        </p:txBody>
      </p:sp>
      <p:sp>
        <p:nvSpPr>
          <p:cNvPr id="182" name="Shape 180"/>
          <p:cNvSpPr/>
          <p:nvPr/>
        </p:nvSpPr>
        <p:spPr>
          <a:xfrm>
            <a:off x="7743749" y="22448520"/>
            <a:ext cx="5896661" cy="320040"/>
          </a:xfrm>
          <a:prstGeom prst="rect">
            <a:avLst/>
          </a:prstGeom>
          <a:solidFill>
            <a:srgbClr val="FFFFFF"/>
          </a:solidFill>
          <a:ln w="6350">
            <a:solidFill>
              <a:srgbClr val="C7D1DB"/>
            </a:solidFill>
            <a:prstDash val="solid"/>
          </a:ln>
        </p:spPr>
        <p:txBody>
          <a:bodyPr/>
          <a:p/>
        </p:txBody>
      </p:sp>
      <p:sp>
        <p:nvSpPr>
          <p:cNvPr id="183" name="Text 181"/>
          <p:cNvSpPr/>
          <p:nvPr/>
        </p:nvSpPr>
        <p:spPr>
          <a:xfrm>
            <a:off x="7780325" y="2248509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return</a:t>
            </a:r>
            <a:endParaRPr lang="en-US" sz="670" dirty="0"/>
          </a:p>
        </p:txBody>
      </p:sp>
      <p:sp>
        <p:nvSpPr>
          <p:cNvPr id="184" name="Shape 182"/>
          <p:cNvSpPr/>
          <p:nvPr/>
        </p:nvSpPr>
        <p:spPr>
          <a:xfrm>
            <a:off x="10574146" y="22448520"/>
            <a:ext cx="0" cy="320040"/>
          </a:xfrm>
          <a:prstGeom prst="line">
            <a:avLst/>
          </a:prstGeom>
          <a:noFill/>
          <a:ln w="6350">
            <a:solidFill>
              <a:srgbClr val="C7D1DB"/>
            </a:solidFill>
            <a:prstDash val="solid"/>
          </a:ln>
        </p:spPr>
        <p:txBody>
          <a:bodyPr/>
          <a:p/>
        </p:txBody>
      </p:sp>
      <p:sp>
        <p:nvSpPr>
          <p:cNvPr id="185" name="Text 183"/>
          <p:cNvSpPr/>
          <p:nvPr/>
        </p:nvSpPr>
        <p:spPr>
          <a:xfrm>
            <a:off x="10610722" y="2248509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0.784</a:t>
            </a:r>
            <a:endParaRPr lang="en-US" sz="670" dirty="0"/>
          </a:p>
        </p:txBody>
      </p:sp>
      <p:sp>
        <p:nvSpPr>
          <p:cNvPr id="186" name="Shape 184"/>
          <p:cNvSpPr/>
          <p:nvPr/>
        </p:nvSpPr>
        <p:spPr>
          <a:xfrm>
            <a:off x="12107278" y="22448520"/>
            <a:ext cx="0" cy="320040"/>
          </a:xfrm>
          <a:prstGeom prst="line">
            <a:avLst/>
          </a:prstGeom>
          <a:noFill/>
          <a:ln w="6350">
            <a:solidFill>
              <a:srgbClr val="C7D1DB"/>
            </a:solidFill>
            <a:prstDash val="solid"/>
          </a:ln>
        </p:spPr>
        <p:txBody>
          <a:bodyPr/>
          <a:p/>
        </p:txBody>
      </p:sp>
      <p:sp>
        <p:nvSpPr>
          <p:cNvPr id="187" name="Text 185"/>
          <p:cNvSpPr/>
          <p:nvPr/>
        </p:nvSpPr>
        <p:spPr>
          <a:xfrm>
            <a:off x="12143854" y="2248509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F28E2B"/>
                </a:solidFill>
                <a:latin typeface="Noto Sans CJK KR" pitchFamily="34" charset="0"/>
                <a:ea typeface="Noto Sans CJK KR" pitchFamily="34" charset="-122"/>
                <a:cs typeface="Noto Sans CJK KR" pitchFamily="34" charset="-120"/>
              </a:rPr>
              <a:t>0.790</a:t>
            </a:r>
            <a:endParaRPr lang="en-US" sz="670" dirty="0"/>
          </a:p>
        </p:txBody>
      </p:sp>
      <p:sp>
        <p:nvSpPr>
          <p:cNvPr id="188" name="Shape 186"/>
          <p:cNvSpPr/>
          <p:nvPr/>
        </p:nvSpPr>
        <p:spPr>
          <a:xfrm>
            <a:off x="7743749" y="22768560"/>
            <a:ext cx="5896661" cy="320040"/>
          </a:xfrm>
          <a:prstGeom prst="rect">
            <a:avLst/>
          </a:prstGeom>
          <a:solidFill>
            <a:srgbClr val="FFFFFF"/>
          </a:solidFill>
          <a:ln w="6350">
            <a:solidFill>
              <a:srgbClr val="C7D1DB"/>
            </a:solidFill>
            <a:prstDash val="solid"/>
          </a:ln>
        </p:spPr>
        <p:txBody>
          <a:bodyPr/>
          <a:p/>
        </p:txBody>
      </p:sp>
      <p:sp>
        <p:nvSpPr>
          <p:cNvPr id="189" name="Text 187"/>
          <p:cNvSpPr/>
          <p:nvPr/>
        </p:nvSpPr>
        <p:spPr>
          <a:xfrm>
            <a:off x="7780325" y="22805136"/>
            <a:ext cx="2757245" cy="265176"/>
          </a:xfrm>
          <a:prstGeom prst="rect">
            <a:avLst/>
          </a:prstGeom>
          <a:noFill/>
          <a:ln/>
        </p:spPr>
        <p:txBody>
          <a:bodyPr wrap="square" lIns="0" tIns="0" rIns="0" bIns="0" rtlCol="0" anchor="ctr">
            <a:noAutofit/>
          </a:bodyPr>
          <a:lstStyle/>
          <a:p>
            <a:pPr algn="l" indent="0" marL="0">
              <a:buNone/>
            </a:pPr>
            <a:r>
              <a:rPr sz="780">
                <a:solidFill>
                  <a:srgbClr val="172033"/>
                </a:solidFill>
                <a:latin typeface="Noto Sans CJK KR"/>
              </a:rPr>
              <a:t>Best argmax episode length</a:t>
            </a:r>
            <a:endParaRPr lang="en-US" sz="670" dirty="0"/>
          </a:p>
        </p:txBody>
      </p:sp>
      <p:sp>
        <p:nvSpPr>
          <p:cNvPr id="190" name="Shape 188"/>
          <p:cNvSpPr/>
          <p:nvPr/>
        </p:nvSpPr>
        <p:spPr>
          <a:xfrm>
            <a:off x="10574146" y="22768560"/>
            <a:ext cx="0" cy="320040"/>
          </a:xfrm>
          <a:prstGeom prst="line">
            <a:avLst/>
          </a:prstGeom>
          <a:noFill/>
          <a:ln w="6350">
            <a:solidFill>
              <a:srgbClr val="C7D1DB"/>
            </a:solidFill>
            <a:prstDash val="solid"/>
          </a:ln>
        </p:spPr>
        <p:txBody>
          <a:bodyPr/>
          <a:p/>
        </p:txBody>
      </p:sp>
      <p:sp>
        <p:nvSpPr>
          <p:cNvPr id="191" name="Text 189"/>
          <p:cNvSpPr/>
          <p:nvPr/>
        </p:nvSpPr>
        <p:spPr>
          <a:xfrm>
            <a:off x="10610722" y="2280513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172033"/>
                </a:solidFill>
                <a:latin typeface="Noto Sans CJK KR" pitchFamily="34" charset="0"/>
                <a:ea typeface="Noto Sans CJK KR" pitchFamily="34" charset="-122"/>
                <a:cs typeface="Noto Sans CJK KR" pitchFamily="34" charset="-120"/>
              </a:rPr>
              <a:t>14.400</a:t>
            </a:r>
            <a:endParaRPr lang="en-US" sz="670" dirty="0"/>
          </a:p>
        </p:txBody>
      </p:sp>
      <p:sp>
        <p:nvSpPr>
          <p:cNvPr id="192" name="Shape 190"/>
          <p:cNvSpPr/>
          <p:nvPr/>
        </p:nvSpPr>
        <p:spPr>
          <a:xfrm>
            <a:off x="12107278" y="22768560"/>
            <a:ext cx="0" cy="320040"/>
          </a:xfrm>
          <a:prstGeom prst="line">
            <a:avLst/>
          </a:prstGeom>
          <a:noFill/>
          <a:ln w="6350">
            <a:solidFill>
              <a:srgbClr val="C7D1DB"/>
            </a:solidFill>
            <a:prstDash val="solid"/>
          </a:ln>
        </p:spPr>
        <p:txBody>
          <a:bodyPr/>
          <a:p/>
        </p:txBody>
      </p:sp>
      <p:sp>
        <p:nvSpPr>
          <p:cNvPr id="193" name="Text 191"/>
          <p:cNvSpPr/>
          <p:nvPr/>
        </p:nvSpPr>
        <p:spPr>
          <a:xfrm>
            <a:off x="12143854" y="22805136"/>
            <a:ext cx="1459980" cy="265176"/>
          </a:xfrm>
          <a:prstGeom prst="rect">
            <a:avLst/>
          </a:prstGeom>
          <a:noFill/>
          <a:ln/>
        </p:spPr>
        <p:txBody>
          <a:bodyPr wrap="square" lIns="0" tIns="0" rIns="0" bIns="0" rtlCol="0" anchor="ctr">
            <a:noAutofit/>
          </a:bodyPr>
          <a:lstStyle/>
          <a:p>
            <a:pPr algn="ctr" indent="0" marL="0">
              <a:buNone/>
            </a:pPr>
            <a:r>
              <a:rPr lang="en-US" sz="780" dirty="0">
                <a:solidFill>
                  <a:srgbClr val="F28E2B"/>
                </a:solidFill>
                <a:latin typeface="Noto Sans CJK KR" pitchFamily="34" charset="0"/>
                <a:ea typeface="Noto Sans CJK KR" pitchFamily="34" charset="-122"/>
                <a:cs typeface="Noto Sans CJK KR" pitchFamily="34" charset="-120"/>
              </a:rPr>
              <a:t>14.000</a:t>
            </a:r>
            <a:endParaRPr lang="en-US" sz="670" dirty="0"/>
          </a:p>
        </p:txBody>
      </p:sp>
      <p:sp>
        <p:nvSpPr>
          <p:cNvPr id="194" name="Text 192"/>
          <p:cNvSpPr/>
          <p:nvPr/>
        </p:nvSpPr>
        <p:spPr>
          <a:xfrm>
            <a:off x="7743749" y="23317200"/>
            <a:ext cx="5896661" cy="28803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000">
                <a:solidFill>
                  <a:srgbClr val="141F30"/>
                </a:solidFill>
                <a:latin typeface="Malgun Gothic"/>
              </a:rPr>
              <a:t>In MultiRoom N4-S4, final success alone hides the difference between the two models. The three-seed mean final success was 1.000 for both sample and argmax evaluation in both models, and the final returns were also very close. Thus, the value of this environment is not in asking which model eventually solves the task, but in examining how each model reaches that solution.</a:t>
            </a:r>
            <a:endParaRPr lang="en-US" sz="835" dirty="0"/>
          </a:p>
          <a:p>
            <a:r>
              <a:rPr sz="1000">
                <a:solidFill>
                  <a:srgbClr val="141F30"/>
                </a:solidFill>
                <a:latin typeface="Malgun Gothic"/>
              </a:rPr>
              <a:t/>
            </a:r>
          </a:p>
          <a:p>
            <a:r>
              <a:rPr sz="1000">
                <a:solidFill>
                  <a:srgbClr val="141F30"/>
                </a:solidFill>
                <a:latin typeface="Malgun Gothic"/>
              </a:rPr>
              <a:t>Memory Ablation learned faster on average. The sample success AUC was 0.753 for Memory Ablation and 0.690 for Vanilla FuN. The argmax success AUC was also higher for Memory Ablation, 0.541 compared with 0.497. A higher AUC means that the model maintained higher success earlier and for a larger portion of training, rather than only matching the final performance.</a:t>
            </a:r>
          </a:p>
          <a:p>
            <a:r>
              <a:rPr sz="1000">
                <a:solidFill>
                  <a:srgbClr val="141F30"/>
                </a:solidFill>
                <a:latin typeface="Malgun Gothic"/>
              </a:rPr>
              <a:t/>
            </a:r>
          </a:p>
          <a:p>
            <a:r>
              <a:rPr sz="1000">
                <a:solidFill>
                  <a:srgbClr val="141F30"/>
                </a:solidFill>
                <a:latin typeface="Malgun Gothic"/>
              </a:rPr>
              <a:t>Threshold crossing also favored Memory Ablation. The average episode to reach 1.0 sample success decreased from 2366.7 to 2100.0, and the average episode to reach 1.0 argmax success decreased from 3033.3 to 2500.0. This suggests that recurrent memory was not a necessary condition for solving N4-S4, and that the simpler Manager was sufficient for faster learning in this setting.</a:t>
            </a:r>
          </a:p>
        </p:txBody>
      </p:sp>
      <p:sp>
        <p:nvSpPr>
          <p:cNvPr id="195" name="Shape 193"/>
          <p:cNvSpPr/>
          <p:nvPr/>
        </p:nvSpPr>
        <p:spPr>
          <a:xfrm>
            <a:off x="14253058" y="2514600"/>
            <a:ext cx="6719621" cy="14036040"/>
          </a:xfrm>
          <a:prstGeom prst="roundRect">
            <a:avLst>
              <a:gd name="adj" fmla="val 1089"/>
            </a:avLst>
          </a:prstGeom>
          <a:solidFill>
            <a:srgbClr val="FFFFFF"/>
          </a:solidFill>
          <a:ln w="12700">
            <a:solidFill>
              <a:srgbClr val="C7D1DB"/>
            </a:solidFill>
            <a:prstDash val="solid"/>
          </a:ln>
        </p:spPr>
        <p:txBody>
          <a:bodyPr/>
          <a:p/>
        </p:txBody>
      </p:sp>
      <p:sp>
        <p:nvSpPr>
          <p:cNvPr id="196" name="Shape 194"/>
          <p:cNvSpPr/>
          <p:nvPr/>
        </p:nvSpPr>
        <p:spPr>
          <a:xfrm>
            <a:off x="14417650" y="267919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197" name="Text 195"/>
          <p:cNvSpPr/>
          <p:nvPr/>
        </p:nvSpPr>
        <p:spPr>
          <a:xfrm>
            <a:off x="14417650" y="272034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6.</a:t>
            </a:r>
            <a:endParaRPr lang="en-US" sz="1400" dirty="0"/>
          </a:p>
        </p:txBody>
      </p:sp>
      <p:sp>
        <p:nvSpPr>
          <p:cNvPr id="198" name="Text 196"/>
          <p:cNvSpPr/>
          <p:nvPr/>
        </p:nvSpPr>
        <p:spPr>
          <a:xfrm>
            <a:off x="15030298" y="267004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Mechanism Diagnostics</a:t>
            </a:r>
            <a:endParaRPr lang="en-US" sz="1300" dirty="0"/>
          </a:p>
        </p:txBody>
      </p:sp>
      <p:pic>
        <p:nvPicPr>
          <p:cNvPr id="303" name="Hidden intervention PNG graph"/>
          <p:cNvPicPr>
            <a:picLocks noChangeAspect="1"/>
          </p:cNvPicPr>
          <p:nvPr/>
        </p:nvPicPr>
        <p:blipFill>
          <a:blip r:embed="rId6"/>
          <a:stretch>
            <a:fillRect/>
          </a:stretch>
        </p:blipFill>
        <p:spPr>
          <a:xfrm>
            <a:off x="15747191" y="3703320"/>
            <a:ext cx="3731354" cy="2255520"/>
          </a:xfrm>
          <a:prstGeom prst="rect">
            <a:avLst/>
          </a:prstGeom>
        </p:spPr>
      </p:pic>
      <p:pic>
        <p:nvPicPr>
          <p:cNvPr id="304" name="Manager goal policy coupling PNG graph"/>
          <p:cNvPicPr>
            <a:picLocks noChangeAspect="1"/>
          </p:cNvPicPr>
          <p:nvPr/>
        </p:nvPicPr>
        <p:blipFill>
          <a:blip r:embed="rId7"/>
          <a:stretch>
            <a:fillRect/>
          </a:stretch>
        </p:blipFill>
        <p:spPr>
          <a:xfrm>
            <a:off x="14664538" y="7245012"/>
            <a:ext cx="5896661" cy="2496479"/>
          </a:xfrm>
          <a:prstGeom prst="rect">
            <a:avLst/>
          </a:prstGeom>
        </p:spPr>
      </p:pic>
      <p:sp>
        <p:nvSpPr>
          <p:cNvPr id="223" name="Text 221"/>
          <p:cNvSpPr/>
          <p:nvPr/>
        </p:nvSpPr>
        <p:spPr>
          <a:xfrm>
            <a:off x="14664538" y="11155680"/>
            <a:ext cx="5896661" cy="49377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30">
                <a:solidFill>
                  <a:srgbClr val="141F30"/>
                </a:solidFill>
                <a:latin typeface="Malgun Gothic"/>
              </a:rPr>
              <a:t>Two diagnostic analyses were added to understand why Memory Ablation learned faster in N4-S4. First, I intervened on the trained Baseline checkpoint by resetting its hidden state during evaluation. If the final policy strongly depended on recurrent memory, this intervention should have caused a large performance collapse. However, the average argmax success drop was only about 0.03. This suggests that the final Baseline policy had relatively weak dependence on the recurrent hidden state.</a:t>
            </a:r>
            <a:endParaRPr lang="en-US" sz="845" dirty="0"/>
          </a:p>
          <a:p>
            <a:r>
              <a:rPr sz="1130">
                <a:solidFill>
                  <a:srgbClr val="141F30"/>
                </a:solidFill>
                <a:latin typeface="Malgun Gothic"/>
              </a:rPr>
              <a:t/>
            </a:r>
          </a:p>
          <a:p>
            <a:r>
              <a:rPr sz="1130">
                <a:solidFill>
                  <a:srgbClr val="141F30"/>
                </a:solidFill>
                <a:latin typeface="Malgun Gothic"/>
              </a:rPr>
              <a:t>Second, I analyzed the relationship between Manager goals and Worker action distributions. The argmax mean goal_delta_l2 was 0.0473 for Vanilla FuN and 0.0402 for Memory Ablation, indicating that Ablation produced slightly more stable goal changes. Meanwhile, the action-distribution KL immediately after goal updates was about 1.0 for both models. This means that goal updates did affect the Worker policy, but the effect did not require recurrent memory in the final checkpoint.</a:t>
            </a:r>
          </a:p>
          <a:p>
            <a:r>
              <a:rPr sz="1130">
                <a:solidFill>
                  <a:srgbClr val="141F30"/>
                </a:solidFill>
                <a:latin typeface="Malgun Gothic"/>
              </a:rPr>
              <a:t/>
            </a:r>
          </a:p>
          <a:p>
            <a:r>
              <a:rPr sz="1130">
                <a:solidFill>
                  <a:srgbClr val="141F30"/>
                </a:solidFill>
                <a:latin typeface="Malgun Gothic"/>
              </a:rPr>
              <a:t>These diagnostics support the interpretation that Manager memory was not essential at convergence, but they should not be overstated as a complete proof of why Ablation learned faster.</a:t>
            </a:r>
          </a:p>
        </p:txBody>
      </p:sp>
      <p:sp>
        <p:nvSpPr>
          <p:cNvPr id="224" name="Shape 222"/>
          <p:cNvSpPr/>
          <p:nvPr/>
        </p:nvSpPr>
        <p:spPr>
          <a:xfrm>
            <a:off x="14253058" y="16779240"/>
            <a:ext cx="6719621" cy="9829800"/>
          </a:xfrm>
          <a:prstGeom prst="roundRect">
            <a:avLst>
              <a:gd name="adj" fmla="val 1089"/>
            </a:avLst>
          </a:prstGeom>
          <a:solidFill>
            <a:srgbClr val="FFFFFF"/>
          </a:solidFill>
          <a:ln w="12700">
            <a:solidFill>
              <a:srgbClr val="C7D1DB"/>
            </a:solidFill>
            <a:prstDash val="solid"/>
          </a:ln>
        </p:spPr>
        <p:txBody>
          <a:bodyPr/>
          <a:p/>
        </p:txBody>
      </p:sp>
      <p:sp>
        <p:nvSpPr>
          <p:cNvPr id="225" name="Shape 223"/>
          <p:cNvSpPr/>
          <p:nvPr/>
        </p:nvSpPr>
        <p:spPr>
          <a:xfrm>
            <a:off x="14417650" y="16943832"/>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226" name="Text 224"/>
          <p:cNvSpPr/>
          <p:nvPr/>
        </p:nvSpPr>
        <p:spPr>
          <a:xfrm>
            <a:off x="14417650" y="16984980"/>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7.</a:t>
            </a:r>
            <a:endParaRPr lang="en-US" sz="1400" dirty="0"/>
          </a:p>
        </p:txBody>
      </p:sp>
      <p:sp>
        <p:nvSpPr>
          <p:cNvPr id="227" name="Text 225"/>
          <p:cNvSpPr/>
          <p:nvPr/>
        </p:nvSpPr>
        <p:spPr>
          <a:xfrm>
            <a:off x="15030298" y="16934688"/>
            <a:ext cx="5759501"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Boundary Environment — MultiRoom N4-S5</a:t>
            </a:r>
            <a:endParaRPr lang="en-US" sz="1300" dirty="0"/>
          </a:p>
        </p:txBody>
      </p:sp>
      <p:pic>
        <p:nvPicPr>
          <p:cNvPr id="305" name="MultiRoom N4-S5 boundary PNG graph"/>
          <p:cNvPicPr>
            <a:picLocks noChangeAspect="1"/>
          </p:cNvPicPr>
          <p:nvPr/>
        </p:nvPicPr>
        <p:blipFill>
          <a:blip r:embed="rId8"/>
          <a:stretch>
            <a:fillRect/>
          </a:stretch>
        </p:blipFill>
        <p:spPr>
          <a:xfrm>
            <a:off x="14664538" y="17971913"/>
            <a:ext cx="5896661" cy="3558254"/>
          </a:xfrm>
          <a:prstGeom prst="rect">
            <a:avLst/>
          </a:prstGeom>
        </p:spPr>
      </p:pic>
      <p:sp>
        <p:nvSpPr>
          <p:cNvPr id="251" name="Text 249"/>
          <p:cNvSpPr/>
          <p:nvPr/>
        </p:nvSpPr>
        <p:spPr>
          <a:xfrm>
            <a:off x="14664538" y="21808440"/>
            <a:ext cx="5896661" cy="438912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140">
                <a:solidFill>
                  <a:srgbClr val="141F30"/>
                </a:solidFill>
                <a:latin typeface="Malgun Gothic"/>
              </a:rPr>
              <a:t>MultiRoom N4-S5 was used as a boundary condition showing the limits of the current approach. In N4-S4, both models eventually reached 100% final success. In the harder N4-S5 setting, however, all tested runs remained at 0 final evaluation success for both models.</a:t>
            </a:r>
            <a:endParaRPr lang="en-US" sz="870" dirty="0"/>
          </a:p>
          <a:p>
            <a:r>
              <a:rPr sz="1140">
                <a:solidFill>
                  <a:srgbClr val="141F30"/>
                </a:solidFill>
                <a:latin typeface="Malgun Gothic"/>
              </a:rPr>
              <a:t/>
            </a:r>
          </a:p>
          <a:p>
            <a:r>
              <a:rPr sz="1140">
                <a:solidFill>
                  <a:srgbClr val="141F30"/>
                </a:solidFill>
                <a:latin typeface="Malgun Gothic"/>
              </a:rPr>
              <a:t>I also ran a max-steps sweep with limits of 250, 500, 750, and 1000 steps. Increasing the step budget did not recover evaluation success. However, the training process was not entirely reward-free. The best reward-signal episode count was 5 for Vanilla FuN and 16 for Memory Ablation. This indicates that Ablation encountered sparse rewards more often, but these signals did not generalize into a stable evaluation policy.</a:t>
            </a:r>
          </a:p>
          <a:p>
            <a:r>
              <a:rPr sz="1140">
                <a:solidFill>
                  <a:srgbClr val="141F30"/>
                </a:solidFill>
                <a:latin typeface="Malgun Gothic"/>
              </a:rPr>
              <a:t/>
            </a:r>
          </a:p>
          <a:p>
            <a:r>
              <a:rPr sz="1140">
                <a:solidFill>
                  <a:srgbClr val="141F30"/>
                </a:solidFill>
                <a:latin typeface="Malgun Gothic"/>
              </a:rPr>
              <a:t>Therefore, the N4-S5 result should be treated as an honest limitation rather than a failed experiment. The current FuN and ablation structures are not sufficient for reliably solving this harder sparse-reward environment without additional exploration, curriculum learning, or stronger training signals.</a:t>
            </a:r>
          </a:p>
        </p:txBody>
      </p:sp>
      <p:sp>
        <p:nvSpPr>
          <p:cNvPr id="252" name="Shape 250"/>
          <p:cNvSpPr/>
          <p:nvPr/>
        </p:nvSpPr>
        <p:spPr>
          <a:xfrm>
            <a:off x="411480" y="26929080"/>
            <a:ext cx="20561198" cy="2788920"/>
          </a:xfrm>
          <a:prstGeom prst="roundRect">
            <a:avLst>
              <a:gd name="adj" fmla="val 2623"/>
            </a:avLst>
          </a:prstGeom>
          <a:solidFill>
            <a:srgbClr val="FFFFFF"/>
          </a:solidFill>
          <a:ln w="12700">
            <a:solidFill>
              <a:srgbClr val="C7D1DB"/>
            </a:solidFill>
            <a:prstDash val="solid"/>
          </a:ln>
        </p:spPr>
        <p:txBody>
          <a:bodyPr/>
          <a:p/>
        </p:txBody>
      </p:sp>
      <p:sp>
        <p:nvSpPr>
          <p:cNvPr id="253" name="Shape 251"/>
          <p:cNvSpPr/>
          <p:nvPr/>
        </p:nvSpPr>
        <p:spPr>
          <a:xfrm>
            <a:off x="576072" y="27111960"/>
            <a:ext cx="502920" cy="411480"/>
          </a:xfrm>
          <a:prstGeom prst="roundRect">
            <a:avLst>
              <a:gd name="adj" fmla="val 8889"/>
            </a:avLst>
          </a:prstGeom>
          <a:solidFill>
            <a:srgbClr val="0B2545"/>
          </a:solidFill>
          <a:ln w="12700">
            <a:solidFill>
              <a:srgbClr val="0B2545">
                <a:alpha val="0"/>
              </a:srgbClr>
            </a:solidFill>
            <a:prstDash val="solid"/>
          </a:ln>
        </p:spPr>
        <p:txBody>
          <a:bodyPr/>
          <a:p/>
        </p:txBody>
      </p:sp>
      <p:sp>
        <p:nvSpPr>
          <p:cNvPr id="254" name="Text 252"/>
          <p:cNvSpPr/>
          <p:nvPr/>
        </p:nvSpPr>
        <p:spPr>
          <a:xfrm>
            <a:off x="576072" y="27153108"/>
            <a:ext cx="502920" cy="411480"/>
          </a:xfrm>
          <a:prstGeom prst="rect">
            <a:avLst/>
          </a:prstGeom>
          <a:noFill/>
          <a:ln/>
        </p:spPr>
        <p:txBody>
          <a:bodyPr wrap="square" lIns="0" tIns="0" rIns="0" bIns="0" rtlCol="0" anchor="ctr">
            <a:noAutofit/>
          </a:bodyPr>
          <a:lstStyle/>
          <a:p>
            <a:pPr algn="ctr" indent="0" marL="0">
              <a:buNone/>
            </a:pPr>
            <a:r>
              <a:rPr lang="en-US" sz="1900" b="1" dirty="0">
                <a:solidFill>
                  <a:srgbClr val="FFFFFF"/>
                </a:solidFill>
                <a:latin typeface="Noto Sans CJK KR" pitchFamily="34" charset="0"/>
                <a:ea typeface="Noto Sans CJK KR" pitchFamily="34" charset="-122"/>
                <a:cs typeface="Noto Sans CJK KR" pitchFamily="34" charset="-120"/>
              </a:rPr>
              <a:t>8.</a:t>
            </a:r>
            <a:endParaRPr lang="en-US" sz="1400" dirty="0"/>
          </a:p>
        </p:txBody>
      </p:sp>
      <p:sp>
        <p:nvSpPr>
          <p:cNvPr id="255" name="Text 253"/>
          <p:cNvSpPr/>
          <p:nvPr/>
        </p:nvSpPr>
        <p:spPr>
          <a:xfrm>
            <a:off x="1188720" y="27102816"/>
            <a:ext cx="1828800" cy="502920"/>
          </a:xfrm>
          <a:prstGeom prst="rect">
            <a:avLst/>
          </a:prstGeom>
          <a:noFill/>
          <a:ln/>
        </p:spPr>
        <p:txBody>
          <a:bodyPr wrap="square" lIns="254" tIns="254" rIns="254" bIns="254" rtlCol="0" anchor="ctr">
            <a:noAutofit/>
          </a:bodyPr>
          <a:lstStyle/>
          <a:p>
            <a:pPr algn="l" indent="0" marL="0">
              <a:buNone/>
            </a:pPr>
            <a:r>
              <a:rPr sz="1700" b="1">
                <a:solidFill>
                  <a:srgbClr val="172033"/>
                </a:solidFill>
                <a:latin typeface="Noto Sans CJK KR"/>
              </a:rPr>
              <a:t>Conclusion</a:t>
            </a:r>
            <a:endParaRPr lang="en-US" sz="1350" dirty="0"/>
          </a:p>
        </p:txBody>
      </p:sp>
      <p:sp>
        <p:nvSpPr>
          <p:cNvPr id="256" name="Shape 254"/>
          <p:cNvSpPr/>
          <p:nvPr/>
        </p:nvSpPr>
        <p:spPr>
          <a:xfrm>
            <a:off x="731520" y="27660600"/>
            <a:ext cx="15852038" cy="1691640"/>
          </a:xfrm>
          <a:prstGeom prst="roundRect">
            <a:avLst>
              <a:gd name="adj" fmla="val 2703"/>
            </a:avLst>
          </a:prstGeom>
          <a:solidFill>
            <a:srgbClr val="F8FAFF"/>
          </a:solidFill>
          <a:ln w="12700">
            <a:solidFill>
              <a:srgbClr val="0B2545"/>
            </a:solidFill>
            <a:prstDash val="solid"/>
          </a:ln>
        </p:spPr>
        <p:txBody>
          <a:bodyPr/>
          <a:p/>
        </p:txBody>
      </p:sp>
      <p:sp>
        <p:nvSpPr>
          <p:cNvPr id="257" name="Text 255"/>
          <p:cNvSpPr/>
          <p:nvPr/>
        </p:nvSpPr>
        <p:spPr>
          <a:xfrm>
            <a:off x="1005840" y="27962352"/>
            <a:ext cx="640080" cy="731520"/>
          </a:xfrm>
          <a:prstGeom prst="rect">
            <a:avLst/>
          </a:prstGeom>
          <a:noFill/>
          <a:ln/>
        </p:spPr>
        <p:txBody>
          <a:bodyPr wrap="square" lIns="0" tIns="0" rIns="0" bIns="0" rtlCol="0" anchor="ctr">
            <a:normAutofit/>
          </a:bodyPr>
          <a:lstStyle/>
          <a:p>
            <a:pPr algn="ctr" indent="0" marL="0">
              <a:buNone/>
            </a:pPr>
            <a:r>
              <a:rPr lang="en-US" sz="3200" dirty="0">
                <a:solidFill>
                  <a:srgbClr val="0B2545"/>
                </a:solidFill>
                <a:latin typeface="Noto Sans CJK KR" pitchFamily="34" charset="0"/>
                <a:ea typeface="Noto Sans CJK KR" pitchFamily="34" charset="-122"/>
                <a:cs typeface="Noto Sans CJK KR" pitchFamily="34" charset="-120"/>
              </a:rPr>
              <a:t>◎</a:t>
            </a:r>
            <a:endParaRPr lang="en-US" sz="3200" dirty="0"/>
          </a:p>
        </p:txBody>
      </p:sp>
      <p:sp>
        <p:nvSpPr>
          <p:cNvPr id="258" name="Text 256"/>
          <p:cNvSpPr/>
          <p:nvPr/>
        </p:nvSpPr>
        <p:spPr>
          <a:xfrm>
            <a:off x="1828800" y="27779472"/>
            <a:ext cx="14937638" cy="146304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1030">
                <a:solidFill>
                  <a:srgbClr val="141F30"/>
                </a:solidFill>
                <a:latin typeface="Malgun Gothic"/>
              </a:rPr>
              <a:t>Overall, removing the recurrent memory from the FuN Manager did not destroy performance in the tested MiniGrid environments. In DoorKey-6x6 and MultiRoom N4-S4, Memory Ablation often learned faster and more consistently under limited training budgets. In DoorKey-6x6, the 3000-episode sample success improved substantially, and in MultiRoom N4-S4, both final success rates were identical while success AUC and threshold-crossing episodes favored Memory Ablation.</a:t>
            </a:r>
            <a:endParaRPr lang="en-US" sz="860" dirty="0"/>
          </a:p>
          <a:p>
            <a:r>
              <a:rPr sz="1030">
                <a:solidFill>
                  <a:srgbClr val="141F30"/>
                </a:solidFill>
                <a:latin typeface="Malgun Gothic"/>
              </a:rPr>
              <a:t/>
            </a:r>
          </a:p>
          <a:p>
            <a:r>
              <a:rPr sz="1030">
                <a:solidFill>
                  <a:srgbClr val="141F30"/>
                </a:solidFill>
                <a:latin typeface="Malgun Gothic"/>
              </a:rPr>
              <a:t>At the same time, Vanilla FuN could catch up under larger budgets, and both models failed to solve the harder MultiRoom N4-S5 setting. Therefore, the conclusion is not that Memory Ablation is universally superior. A safer interpretation is that, for several tested multi-goal MiniGrid navigation settings, a simpler Manager without recurrent hidden memory was sufficient and sometimes more sample-efficient.</a:t>
            </a:r>
          </a:p>
          <a:p>
            <a:r>
              <a:rPr sz="1030">
                <a:solidFill>
                  <a:srgbClr val="141F30"/>
                </a:solidFill>
                <a:latin typeface="Malgun Gothic"/>
              </a:rPr>
              <a:t/>
            </a:r>
          </a:p>
          <a:p>
            <a:r>
              <a:rPr sz="1030">
                <a:solidFill>
                  <a:srgbClr val="141F30"/>
                </a:solidFill>
                <a:latin typeface="Malgun Gothic"/>
              </a:rPr>
              <a:t>This suggests that recurrent memory may add optimization burden when the environment can be solved primarily from the current observation and goal interface. More difficult sparse-reward tasks will require stronger exploration strategies and broader mechanism analysis.</a:t>
            </a:r>
          </a:p>
        </p:txBody>
      </p:sp>
      <p:sp>
        <p:nvSpPr>
          <p:cNvPr id="259" name="Shape 257"/>
          <p:cNvSpPr/>
          <p:nvPr/>
        </p:nvSpPr>
        <p:spPr>
          <a:xfrm>
            <a:off x="16812158" y="27660600"/>
            <a:ext cx="3840480" cy="1691640"/>
          </a:xfrm>
          <a:prstGeom prst="roundRect">
            <a:avLst>
              <a:gd name="adj" fmla="val 2703"/>
            </a:avLst>
          </a:prstGeom>
          <a:solidFill>
            <a:srgbClr val="FFF9F2"/>
          </a:solidFill>
          <a:ln w="15240">
            <a:solidFill>
              <a:srgbClr val="F28E2B"/>
            </a:solidFill>
            <a:prstDash val="solid"/>
          </a:ln>
        </p:spPr>
        <p:txBody>
          <a:bodyPr/>
          <a:p/>
        </p:txBody>
      </p:sp>
      <p:sp>
        <p:nvSpPr>
          <p:cNvPr id="260" name="Text 258"/>
          <p:cNvSpPr/>
          <p:nvPr/>
        </p:nvSpPr>
        <p:spPr>
          <a:xfrm>
            <a:off x="16995038" y="27934920"/>
            <a:ext cx="548640" cy="548640"/>
          </a:xfrm>
          <a:prstGeom prst="rect">
            <a:avLst/>
          </a:prstGeom>
          <a:noFill/>
          <a:ln/>
        </p:spPr>
        <p:txBody>
          <a:bodyPr wrap="square" lIns="0" tIns="0" rIns="0" bIns="0" rtlCol="0" anchor="ctr">
            <a:normAutofit/>
          </a:bodyPr>
          <a:lstStyle/>
          <a:p>
            <a:pPr algn="ctr" indent="0" marL="0">
              <a:buNone/>
            </a:pPr>
            <a:r>
              <a:rPr lang="en-US" sz="2600" dirty="0">
                <a:solidFill>
                  <a:srgbClr val="172033"/>
                </a:solidFill>
                <a:latin typeface="Noto Sans CJK KR" pitchFamily="34" charset="0"/>
                <a:ea typeface="Noto Sans CJK KR" pitchFamily="34" charset="-122"/>
                <a:cs typeface="Noto Sans CJK KR" pitchFamily="34" charset="-120"/>
              </a:rPr>
              <a:t>💡</a:t>
            </a:r>
            <a:endParaRPr lang="en-US" sz="2600" dirty="0"/>
          </a:p>
        </p:txBody>
      </p:sp>
      <p:sp>
        <p:nvSpPr>
          <p:cNvPr id="261" name="Text 259"/>
          <p:cNvSpPr/>
          <p:nvPr/>
        </p:nvSpPr>
        <p:spPr>
          <a:xfrm>
            <a:off x="17680838" y="27816048"/>
            <a:ext cx="2788920" cy="1280160"/>
          </a:xfrm>
          <a:prstGeom prst="rect">
            <a:avLst/>
          </a:prstGeom>
          <a:noFill/>
          <a:ln/>
        </p:spPr>
        <p:txBody>
          <a:bodyPr wrap="square" lIns="38100" tIns="25400" rIns="38100" bIns="25400" rtlCol="0" anchor="t">
            <a:noAutofit/>
          </a:bodyPr>
          <a:lstStyle/>
          <a:p>
            <a:pPr algn="l" indent="0" marL="0">
              <a:lnSpc>
                <a:spcPct val="95000"/>
              </a:lnSpc>
              <a:spcBef>
                <a:spcPts val="0"/>
              </a:spcBef>
              <a:spcAft>
                <a:spcPts val="0"/>
              </a:spcAft>
              <a:buNone/>
            </a:pPr>
            <a:r>
              <a:rPr sz="960">
                <a:solidFill>
                  <a:srgbClr val="141F30"/>
                </a:solidFill>
                <a:latin typeface="Malgun Gothic"/>
              </a:rPr>
              <a:t>Future Work</a:t>
            </a:r>
            <a:endParaRPr lang="en-US" sz="820" dirty="0"/>
          </a:p>
          <a:p>
            <a:r>
              <a:rPr sz="960">
                <a:solidFill>
                  <a:srgbClr val="141F30"/>
                </a:solidFill>
                <a:latin typeface="Malgun Gothic"/>
              </a:rPr>
              <a:t>• Apply curriculum learning to N4-S5 and harder tasks</a:t>
            </a:r>
          </a:p>
          <a:p>
            <a:r>
              <a:rPr sz="960">
                <a:solidFill>
                  <a:srgbClr val="141F30"/>
                </a:solidFill>
                <a:latin typeface="Malgun Gothic"/>
              </a:rPr>
              <a:t>• Combine intrinsic reward or exploration bonuses</a:t>
            </a:r>
          </a:p>
          <a:p>
            <a:r>
              <a:rPr sz="960">
                <a:solidFill>
                  <a:srgbClr val="141F30"/>
                </a:solidFill>
                <a:latin typeface="Malgun Gothic"/>
              </a:rPr>
              <a:t>• Analyze hidden-state dependence at early checkpoints</a:t>
            </a:r>
          </a:p>
          <a:p>
            <a:r>
              <a:rPr sz="960">
                <a:solidFill>
                  <a:srgbClr val="141F30"/>
                </a:solidFill>
                <a:latin typeface="Malgun Gothic"/>
              </a:rPr>
              <a:t>• Cluster Manager goals and compare trajectory-level behavior</a:t>
            </a:r>
          </a:p>
          <a:p>
            <a:r>
              <a:rPr sz="960">
                <a:solidFill>
                  <a:srgbClr val="141F30"/>
                </a:solidFill>
                <a:latin typeface="Malgun Gothic"/>
              </a:rPr>
              <a:t>• Fairly compare Transformer Manager, recurrent Manager, and ablation variants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Multi-Goal 기반 게임 환경에서 Reward Sparsity 완화를 위한 강화학습 기법 연구</dc:title>
  <dc:subject>Final poster</dc:subject>
  <dc:creator>OpenAI</dc:creator>
  <cp:lastModifiedBy>OpenAI</cp:lastModifiedBy>
  <cp:revision>1</cp:revision>
  <dcterms:created xsi:type="dcterms:W3CDTF">2026-05-25T06:06:45Z</dcterms:created>
  <dcterms:modified xsi:type="dcterms:W3CDTF">2026-05-25T06:06:45Z</dcterms:modified>
</cp:coreProperties>
</file>